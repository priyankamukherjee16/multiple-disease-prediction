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98" r:id="rId5"/>
    <p:sldId id="319" r:id="rId6"/>
    <p:sldId id="320" r:id="rId7"/>
    <p:sldId id="321" r:id="rId8"/>
    <p:sldId id="315" r:id="rId9"/>
    <p:sldId id="300" r:id="rId10"/>
    <p:sldId id="322" r:id="rId11"/>
    <p:sldId id="316" r:id="rId12"/>
    <p:sldId id="325" r:id="rId13"/>
    <p:sldId id="326" r:id="rId14"/>
    <p:sldId id="327" r:id="rId15"/>
    <p:sldId id="328" r:id="rId16"/>
    <p:sldId id="329" r:id="rId17"/>
    <p:sldId id="330" r:id="rId18"/>
    <p:sldId id="310" r:id="rId19"/>
    <p:sldId id="306" r:id="rId20"/>
    <p:sldId id="307" r:id="rId21"/>
    <p:sldId id="318" r:id="rId22"/>
    <p:sldId id="324" r:id="rId23"/>
    <p:sldId id="317" r:id="rId24"/>
    <p:sldId id="323" r:id="rId25"/>
    <p:sldId id="30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00"/>
    <a:srgbClr val="9999FF"/>
    <a:srgbClr val="480000"/>
    <a:srgbClr val="FFFFFF"/>
    <a:srgbClr val="CCFF99"/>
    <a:srgbClr val="99FFCC"/>
    <a:srgbClr val="B6D1DE"/>
    <a:srgbClr val="FFCCCC"/>
    <a:srgbClr val="0033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11/19/2024</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2343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11/19/2024</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404659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11/19/2024</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27835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11/19/2024</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8359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11/19/2024</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6392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11/19/2024</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68543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11/19/2024</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3393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11/19/2024</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71184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11/19/2024</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01613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11/19/2024</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6030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eksforgeeks.org/data-mining" TargetMode="External"/><Relationship Id="rId2" Type="http://schemas.openxmlformats.org/officeDocument/2006/relationships/hyperlink" Target="https://www.geeksforgeeks.org/supervised-unsupervised-learning" TargetMode="External"/><Relationship Id="rId1" Type="http://schemas.openxmlformats.org/officeDocument/2006/relationships/slideLayout" Target="../slideLayouts/slideLayout6.xml"/><Relationship Id="rId4" Type="http://schemas.openxmlformats.org/officeDocument/2006/relationships/hyperlink" Target="https://www.geeksforgeeks.org/mathematics-probability-distributions-set-3-normal-distribution"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35" name="Rectangle 34">
            <a:extLst>
              <a:ext uri="{FF2B5EF4-FFF2-40B4-BE49-F238E27FC236}">
                <a16:creationId xmlns:a16="http://schemas.microsoft.com/office/drawing/2014/main" id="{C5373426-E26E-431D-959C-5DB96C0B62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12607" y="1238442"/>
            <a:ext cx="3635926" cy="4355751"/>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8123416" y="1475234"/>
            <a:ext cx="3214307" cy="2901694"/>
          </a:xfrm>
        </p:spPr>
        <p:txBody>
          <a:bodyPr anchor="b">
            <a:normAutofit/>
          </a:bodyPr>
          <a:lstStyle/>
          <a:p>
            <a:r>
              <a:rPr lang="en-US" sz="4400" dirty="0">
                <a:solidFill>
                  <a:schemeClr val="tx1"/>
                </a:solidFill>
                <a:latin typeface="Algerian" panose="04020705040A02060702" pitchFamily="82" charset="0"/>
              </a:rPr>
              <a:t>Multiple Disease Prediction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sz="1800" b="1" dirty="0"/>
              <a:t>ML Project (group_8</a:t>
            </a:r>
            <a:r>
              <a:rPr lang="en-US" sz="2000" dirty="0"/>
              <a:t>)</a:t>
            </a:r>
            <a:endParaRPr lang="en-US" sz="1600" dirty="0"/>
          </a:p>
        </p:txBody>
      </p:sp>
      <p:cxnSp>
        <p:nvCxnSpPr>
          <p:cNvPr id="37" name="Straight Connector 36">
            <a:extLst>
              <a:ext uri="{FF2B5EF4-FFF2-40B4-BE49-F238E27FC236}">
                <a16:creationId xmlns:a16="http://schemas.microsoft.com/office/drawing/2014/main" id="{96D07482-83A3-4451-943C-B469610829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76090" y="4508519"/>
            <a:ext cx="31089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EDC90921-9082-491B-940E-827D679F34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rgbClr val="262626">
              <a:alpha val="95000"/>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graphicFrame>
        <p:nvGraphicFramePr>
          <p:cNvPr id="10" name="Content Placeholder 9">
            <a:extLst>
              <a:ext uri="{FF2B5EF4-FFF2-40B4-BE49-F238E27FC236}">
                <a16:creationId xmlns:a16="http://schemas.microsoft.com/office/drawing/2014/main" id="{861BFE21-5DD9-8F01-38D3-0418B08E2A62}"/>
              </a:ext>
            </a:extLst>
          </p:cNvPr>
          <p:cNvGraphicFramePr>
            <a:graphicFrameLocks noGrp="1"/>
          </p:cNvGraphicFramePr>
          <p:nvPr>
            <p:ph idx="1"/>
            <p:extLst>
              <p:ext uri="{D42A27DB-BD31-4B8C-83A1-F6EECF244321}">
                <p14:modId xmlns:p14="http://schemas.microsoft.com/office/powerpoint/2010/main" val="1882184927"/>
              </p:ext>
            </p:extLst>
          </p:nvPr>
        </p:nvGraphicFramePr>
        <p:xfrm>
          <a:off x="1" y="1304781"/>
          <a:ext cx="12192000" cy="5238973"/>
        </p:xfrm>
        <a:graphic>
          <a:graphicData uri="http://schemas.openxmlformats.org/drawingml/2006/table">
            <a:tbl>
              <a:tblPr firstRow="1" bandRow="1">
                <a:tableStyleId>{5C22544A-7EE6-4342-B048-85BDC9FD1C3A}</a:tableStyleId>
              </a:tblPr>
              <a:tblGrid>
                <a:gridCol w="1209367">
                  <a:extLst>
                    <a:ext uri="{9D8B030D-6E8A-4147-A177-3AD203B41FA5}">
                      <a16:colId xmlns:a16="http://schemas.microsoft.com/office/drawing/2014/main" val="1304200533"/>
                    </a:ext>
                  </a:extLst>
                </a:gridCol>
                <a:gridCol w="4630993">
                  <a:extLst>
                    <a:ext uri="{9D8B030D-6E8A-4147-A177-3AD203B41FA5}">
                      <a16:colId xmlns:a16="http://schemas.microsoft.com/office/drawing/2014/main" val="4022741123"/>
                    </a:ext>
                  </a:extLst>
                </a:gridCol>
                <a:gridCol w="6351640">
                  <a:extLst>
                    <a:ext uri="{9D8B030D-6E8A-4147-A177-3AD203B41FA5}">
                      <a16:colId xmlns:a16="http://schemas.microsoft.com/office/drawing/2014/main" val="132682247"/>
                    </a:ext>
                  </a:extLst>
                </a:gridCol>
              </a:tblGrid>
              <a:tr h="547722">
                <a:tc>
                  <a:txBody>
                    <a:bodyPr/>
                    <a:lstStyle/>
                    <a:p>
                      <a:pPr algn="ctr"/>
                      <a:r>
                        <a:rPr lang="en-IN" sz="2400" dirty="0">
                          <a:solidFill>
                            <a:srgbClr val="002060"/>
                          </a:solidFill>
                        </a:rPr>
                        <a:t>SL. NO.</a:t>
                      </a:r>
                    </a:p>
                  </a:txBody>
                  <a:tcPr/>
                </a:tc>
                <a:tc>
                  <a:txBody>
                    <a:bodyPr/>
                    <a:lstStyle/>
                    <a:p>
                      <a:pPr algn="ctr"/>
                      <a:r>
                        <a:rPr lang="en-IN" sz="2800" dirty="0">
                          <a:solidFill>
                            <a:srgbClr val="002060"/>
                          </a:solidFill>
                        </a:rPr>
                        <a:t>NAMES</a:t>
                      </a:r>
                      <a:endParaRPr lang="en-IN" sz="1600" dirty="0">
                        <a:solidFill>
                          <a:srgbClr val="002060"/>
                        </a:solidFill>
                      </a:endParaRPr>
                    </a:p>
                  </a:txBody>
                  <a:tcPr/>
                </a:tc>
                <a:tc>
                  <a:txBody>
                    <a:bodyPr/>
                    <a:lstStyle/>
                    <a:p>
                      <a:pPr algn="ctr"/>
                      <a:r>
                        <a:rPr lang="en-IN" sz="2800" dirty="0">
                          <a:solidFill>
                            <a:srgbClr val="002060"/>
                          </a:solidFill>
                        </a:rPr>
                        <a:t>CONTRIBUTION</a:t>
                      </a:r>
                      <a:endParaRPr lang="en-IN" sz="1600" dirty="0">
                        <a:solidFill>
                          <a:srgbClr val="002060"/>
                        </a:solidFill>
                      </a:endParaRPr>
                    </a:p>
                  </a:txBody>
                  <a:tcPr/>
                </a:tc>
                <a:extLst>
                  <a:ext uri="{0D108BD9-81ED-4DB2-BD59-A6C34878D82A}">
                    <a16:rowId xmlns:a16="http://schemas.microsoft.com/office/drawing/2014/main" val="1237273471"/>
                  </a:ext>
                </a:extLst>
              </a:tr>
              <a:tr h="1107007">
                <a:tc>
                  <a:txBody>
                    <a:bodyPr/>
                    <a:lstStyle/>
                    <a:p>
                      <a:r>
                        <a:rPr lang="en-IN" sz="2000" b="1" dirty="0">
                          <a:solidFill>
                            <a:srgbClr val="002060"/>
                          </a:solidFill>
                          <a:latin typeface="Arial Rounded MT Bold" panose="020F0704030504030204" pitchFamily="34" charset="0"/>
                        </a:rPr>
                        <a:t>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dirty="0">
                          <a:solidFill>
                            <a:srgbClr val="002060"/>
                          </a:solidFill>
                          <a:latin typeface="Arial Rounded MT Bold" panose="020F0704030504030204" pitchFamily="34" charset="0"/>
                        </a:rPr>
                        <a:t>ARPAN CHATTERJEE</a:t>
                      </a:r>
                    </a:p>
                    <a:p>
                      <a:endParaRPr lang="en-IN" dirty="0">
                        <a:solidFill>
                          <a:srgbClr val="002060"/>
                        </a:solidFill>
                      </a:endParaRPr>
                    </a:p>
                  </a:txBody>
                  <a:tcPr/>
                </a:tc>
                <a:tc>
                  <a:txBody>
                    <a:bodyPr/>
                    <a:lstStyle/>
                    <a:p>
                      <a:r>
                        <a:rPr lang="en-IN" dirty="0">
                          <a:solidFill>
                            <a:srgbClr val="002060"/>
                          </a:solidFill>
                        </a:rPr>
                        <a:t>DECISION TREE CLASSIFIER &amp; SUPPORT VECTOR MACHINE, STREAMLIT DEPLOYMENT</a:t>
                      </a:r>
                    </a:p>
                  </a:txBody>
                  <a:tcPr/>
                </a:tc>
                <a:extLst>
                  <a:ext uri="{0D108BD9-81ED-4DB2-BD59-A6C34878D82A}">
                    <a16:rowId xmlns:a16="http://schemas.microsoft.com/office/drawing/2014/main" val="1344598681"/>
                  </a:ext>
                </a:extLst>
              </a:tr>
              <a:tr h="896061">
                <a:tc>
                  <a:txBody>
                    <a:bodyPr/>
                    <a:lstStyle/>
                    <a:p>
                      <a:r>
                        <a:rPr lang="en-IN" dirty="0">
                          <a:solidFill>
                            <a:srgbClr val="002060"/>
                          </a:solidFill>
                          <a:latin typeface="Arial Rounded MT Bold" panose="020F0704030504030204" pitchFamily="34" charset="0"/>
                        </a:rPr>
                        <a:t>2.</a:t>
                      </a:r>
                    </a:p>
                  </a:txBody>
                  <a:tcPr/>
                </a:tc>
                <a:tc>
                  <a:txBody>
                    <a:bodyPr/>
                    <a:lstStyle/>
                    <a:p>
                      <a:r>
                        <a:rPr lang="en-IN" dirty="0">
                          <a:solidFill>
                            <a:srgbClr val="002060"/>
                          </a:solidFill>
                          <a:latin typeface="Arial Rounded MT Bold" panose="020F0704030504030204" pitchFamily="34" charset="0"/>
                        </a:rPr>
                        <a:t>AKASH SINHA</a:t>
                      </a:r>
                    </a:p>
                  </a:txBody>
                  <a:tcPr/>
                </a:tc>
                <a:tc>
                  <a:txBody>
                    <a:bodyPr/>
                    <a:lstStyle/>
                    <a:p>
                      <a:r>
                        <a:rPr lang="en-IN" dirty="0">
                          <a:solidFill>
                            <a:srgbClr val="002060"/>
                          </a:solidFill>
                        </a:rPr>
                        <a:t>RANDOM FOREST CLASSIFIER, METHODOLOGIES</a:t>
                      </a:r>
                    </a:p>
                  </a:txBody>
                  <a:tcPr/>
                </a:tc>
                <a:extLst>
                  <a:ext uri="{0D108BD9-81ED-4DB2-BD59-A6C34878D82A}">
                    <a16:rowId xmlns:a16="http://schemas.microsoft.com/office/drawing/2014/main" val="3059724927"/>
                  </a:ext>
                </a:extLst>
              </a:tr>
              <a:tr h="896061">
                <a:tc>
                  <a:txBody>
                    <a:bodyPr/>
                    <a:lstStyle/>
                    <a:p>
                      <a:r>
                        <a:rPr lang="en-IN" dirty="0">
                          <a:solidFill>
                            <a:srgbClr val="002060"/>
                          </a:solidFill>
                          <a:latin typeface="Arial Rounded MT Bold" panose="020F0704030504030204" pitchFamily="34" charset="0"/>
                        </a:rPr>
                        <a:t>3.</a:t>
                      </a:r>
                    </a:p>
                  </a:txBody>
                  <a:tcPr/>
                </a:tc>
                <a:tc>
                  <a:txBody>
                    <a:bodyPr/>
                    <a:lstStyle/>
                    <a:p>
                      <a:r>
                        <a:rPr lang="en-IN" dirty="0">
                          <a:solidFill>
                            <a:srgbClr val="002060"/>
                          </a:solidFill>
                          <a:latin typeface="Arial Rounded MT Bold" panose="020F0704030504030204" pitchFamily="34" charset="0"/>
                        </a:rPr>
                        <a:t>PRIYANKA MUKHERJEE</a:t>
                      </a:r>
                    </a:p>
                  </a:txBody>
                  <a:tcPr/>
                </a:tc>
                <a:tc>
                  <a:txBody>
                    <a:bodyPr/>
                    <a:lstStyle/>
                    <a:p>
                      <a:r>
                        <a:rPr lang="en-IN" dirty="0">
                          <a:solidFill>
                            <a:srgbClr val="002060"/>
                          </a:solidFill>
                        </a:rPr>
                        <a:t>LOGISTIC REGRESSION, DATA CLEANING</a:t>
                      </a:r>
                    </a:p>
                  </a:txBody>
                  <a:tcPr/>
                </a:tc>
                <a:extLst>
                  <a:ext uri="{0D108BD9-81ED-4DB2-BD59-A6C34878D82A}">
                    <a16:rowId xmlns:a16="http://schemas.microsoft.com/office/drawing/2014/main" val="3369918013"/>
                  </a:ext>
                </a:extLst>
              </a:tr>
              <a:tr h="896061">
                <a:tc>
                  <a:txBody>
                    <a:bodyPr/>
                    <a:lstStyle/>
                    <a:p>
                      <a:r>
                        <a:rPr lang="en-IN" b="0" dirty="0">
                          <a:solidFill>
                            <a:srgbClr val="002060"/>
                          </a:solidFill>
                          <a:latin typeface="Arial Rounded MT Bold" panose="020F0704030504030204" pitchFamily="34" charset="0"/>
                        </a:rPr>
                        <a:t>4.</a:t>
                      </a:r>
                    </a:p>
                  </a:txBody>
                  <a:tcPr/>
                </a:tc>
                <a:tc>
                  <a:txBody>
                    <a:bodyPr/>
                    <a:lstStyle/>
                    <a:p>
                      <a:r>
                        <a:rPr lang="en-IN" dirty="0">
                          <a:solidFill>
                            <a:srgbClr val="002060"/>
                          </a:solidFill>
                          <a:latin typeface="Arial Rounded MT Bold" panose="020F0704030504030204" pitchFamily="34" charset="0"/>
                        </a:rPr>
                        <a:t>SAYAN MONDAL</a:t>
                      </a:r>
                    </a:p>
                  </a:txBody>
                  <a:tcPr/>
                </a:tc>
                <a:tc>
                  <a:txBody>
                    <a:bodyPr/>
                    <a:lstStyle/>
                    <a:p>
                      <a:r>
                        <a:rPr lang="en-IN" dirty="0">
                          <a:solidFill>
                            <a:srgbClr val="002060"/>
                          </a:solidFill>
                        </a:rPr>
                        <a:t>K NEAREST NEIGHBOUR, COMPARISON OF ACCURACY</a:t>
                      </a:r>
                    </a:p>
                  </a:txBody>
                  <a:tcPr/>
                </a:tc>
                <a:extLst>
                  <a:ext uri="{0D108BD9-81ED-4DB2-BD59-A6C34878D82A}">
                    <a16:rowId xmlns:a16="http://schemas.microsoft.com/office/drawing/2014/main" val="2133740731"/>
                  </a:ext>
                </a:extLst>
              </a:tr>
              <a:tr h="896061">
                <a:tc>
                  <a:txBody>
                    <a:bodyPr/>
                    <a:lstStyle/>
                    <a:p>
                      <a:r>
                        <a:rPr lang="en-IN" dirty="0">
                          <a:solidFill>
                            <a:srgbClr val="002060"/>
                          </a:solidFill>
                          <a:latin typeface="Arial Rounded MT Bold" panose="020F0704030504030204" pitchFamily="34" charset="0"/>
                        </a:rPr>
                        <a:t>5.</a:t>
                      </a:r>
                      <a:endParaRPr lang="en-IN" b="0" dirty="0">
                        <a:solidFill>
                          <a:srgbClr val="002060"/>
                        </a:solidFill>
                        <a:latin typeface="Arial Rounded MT Bold" panose="020F0704030504030204" pitchFamily="34" charset="0"/>
                      </a:endParaRPr>
                    </a:p>
                  </a:txBody>
                  <a:tcPr/>
                </a:tc>
                <a:tc>
                  <a:txBody>
                    <a:bodyPr/>
                    <a:lstStyle/>
                    <a:p>
                      <a:r>
                        <a:rPr lang="en-IN" dirty="0">
                          <a:solidFill>
                            <a:srgbClr val="002060"/>
                          </a:solidFill>
                          <a:latin typeface="Arial Rounded MT Bold" panose="020F0704030504030204" pitchFamily="34" charset="0"/>
                        </a:rPr>
                        <a:t>SATYABRATA BANDYAPADHYAY</a:t>
                      </a:r>
                    </a:p>
                  </a:txBody>
                  <a:tcPr/>
                </a:tc>
                <a:tc>
                  <a:txBody>
                    <a:bodyPr/>
                    <a:lstStyle/>
                    <a:p>
                      <a:r>
                        <a:rPr lang="en-IN" dirty="0">
                          <a:solidFill>
                            <a:srgbClr val="002060"/>
                          </a:solidFill>
                        </a:rPr>
                        <a:t>NAÏVE BAYES ALGORITHM, PREDICTIONS</a:t>
                      </a:r>
                    </a:p>
                  </a:txBody>
                  <a:tcPr/>
                </a:tc>
                <a:extLst>
                  <a:ext uri="{0D108BD9-81ED-4DB2-BD59-A6C34878D82A}">
                    <a16:rowId xmlns:a16="http://schemas.microsoft.com/office/drawing/2014/main" val="1493338999"/>
                  </a:ext>
                </a:extLst>
              </a:tr>
            </a:tbl>
          </a:graphicData>
        </a:graphic>
      </p:graphicFrame>
      <p:sp>
        <p:nvSpPr>
          <p:cNvPr id="11" name="Rectangle 10">
            <a:extLst>
              <a:ext uri="{FF2B5EF4-FFF2-40B4-BE49-F238E27FC236}">
                <a16:creationId xmlns:a16="http://schemas.microsoft.com/office/drawing/2014/main" id="{94C11C0F-4163-22D7-1344-C024B7F6482A}"/>
              </a:ext>
            </a:extLst>
          </p:cNvPr>
          <p:cNvSpPr/>
          <p:nvPr/>
        </p:nvSpPr>
        <p:spPr>
          <a:xfrm>
            <a:off x="508092" y="242678"/>
            <a:ext cx="11175816" cy="923330"/>
          </a:xfrm>
          <a:prstGeom prst="rect">
            <a:avLst/>
          </a:prstGeom>
          <a:noFill/>
        </p:spPr>
        <p:txBody>
          <a:bodyPr wrap="none" lIns="91440" tIns="45720" rIns="91440" bIns="45720">
            <a:spAutoFit/>
          </a:bodyPr>
          <a:lstStyle/>
          <a:p>
            <a:pPr algn="ctr"/>
            <a:r>
              <a:rPr lang="en-US" sz="5400" b="1" cap="none" spc="0" dirty="0">
                <a:ln w="13462">
                  <a:solidFill>
                    <a:schemeClr val="bg1"/>
                  </a:solidFill>
                  <a:prstDash val="solid"/>
                </a:ln>
                <a:solidFill>
                  <a:srgbClr val="002060"/>
                </a:solidFill>
                <a:effectLst>
                  <a:outerShdw dist="38100" dir="2700000" algn="bl" rotWithShape="0">
                    <a:schemeClr val="accent5"/>
                  </a:outerShdw>
                </a:effectLst>
                <a:latin typeface="Arial Black" panose="020B0A04020102020204" pitchFamily="34" charset="0"/>
              </a:rPr>
              <a:t>TEAM MEMBERS AND ROLES</a:t>
            </a:r>
          </a:p>
        </p:txBody>
      </p:sp>
    </p:spTree>
    <p:extLst>
      <p:ext uri="{BB962C8B-B14F-4D97-AF65-F5344CB8AC3E}">
        <p14:creationId xmlns:p14="http://schemas.microsoft.com/office/powerpoint/2010/main" val="11118804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7000">
              <a:srgbClr val="9999FF"/>
            </a:gs>
            <a:gs pos="28000">
              <a:srgbClr val="99FFCC"/>
            </a:gs>
            <a:gs pos="49000">
              <a:srgbClr val="CCFF99"/>
            </a:gs>
            <a:gs pos="100000">
              <a:srgbClr val="FF0000">
                <a:alpha val="50000"/>
              </a:srgbClr>
            </a:gs>
            <a:gs pos="72000">
              <a:srgbClr val="FFFF00">
                <a:alpha val="70000"/>
              </a:srgb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401C7-4F9D-C236-F375-3CADDDAC601F}"/>
              </a:ext>
            </a:extLst>
          </p:cNvPr>
          <p:cNvSpPr>
            <a:spLocks noGrp="1"/>
          </p:cNvSpPr>
          <p:nvPr>
            <p:ph type="title"/>
          </p:nvPr>
        </p:nvSpPr>
        <p:spPr>
          <a:xfrm>
            <a:off x="1066800" y="-461849"/>
            <a:ext cx="10058400" cy="1450757"/>
          </a:xfrm>
        </p:spPr>
        <p:txBody>
          <a:bodyPr/>
          <a:lstStyle/>
          <a:p>
            <a:r>
              <a:rPr lang="en-IN" b="1" dirty="0">
                <a:solidFill>
                  <a:srgbClr val="480000"/>
                </a:solidFill>
              </a:rPr>
              <a:t>PROBLEM STATEMENT:</a:t>
            </a:r>
          </a:p>
        </p:txBody>
      </p:sp>
      <p:sp>
        <p:nvSpPr>
          <p:cNvPr id="3" name="Content Placeholder 2">
            <a:extLst>
              <a:ext uri="{FF2B5EF4-FFF2-40B4-BE49-F238E27FC236}">
                <a16:creationId xmlns:a16="http://schemas.microsoft.com/office/drawing/2014/main" id="{6837B494-B645-E08C-0236-2C6EDB97027F}"/>
              </a:ext>
            </a:extLst>
          </p:cNvPr>
          <p:cNvSpPr>
            <a:spLocks noGrp="1"/>
          </p:cNvSpPr>
          <p:nvPr>
            <p:ph idx="1"/>
          </p:nvPr>
        </p:nvSpPr>
        <p:spPr>
          <a:xfrm>
            <a:off x="1066800" y="1445342"/>
            <a:ext cx="10643419" cy="4709651"/>
          </a:xfrm>
        </p:spPr>
        <p:txBody>
          <a:bodyPr>
            <a:normAutofit fontScale="92500" lnSpcReduction="10000"/>
          </a:bodyPr>
          <a:lstStyle/>
          <a:p>
            <a:r>
              <a:rPr lang="en-IN" sz="2800" b="1" dirty="0">
                <a:solidFill>
                  <a:srgbClr val="002060"/>
                </a:solidFill>
                <a:latin typeface="Arial Black" panose="020B0A04020102020204" pitchFamily="34" charset="0"/>
              </a:rPr>
              <a:t>MULTIPLE DISEASE PREDICTION: </a:t>
            </a:r>
          </a:p>
          <a:p>
            <a:pPr lvl="1"/>
            <a:r>
              <a:rPr lang="en-IN" sz="2800" dirty="0">
                <a:solidFill>
                  <a:srgbClr val="002060"/>
                </a:solidFill>
                <a:latin typeface="Bahnschrift Condensed" panose="020B0502040204020203" pitchFamily="34" charset="0"/>
              </a:rPr>
              <a:t>For this Problem Statement, we identified a problem in labs and clinics, that a lot of time is taken for the tests and then to get evaluated by the doctors or specialists from the test, to learn about whether the patient is healthy or the report defines about any disease. </a:t>
            </a:r>
          </a:p>
          <a:p>
            <a:pPr lvl="1"/>
            <a:r>
              <a:rPr lang="en-IN" sz="2800" dirty="0">
                <a:solidFill>
                  <a:srgbClr val="002060"/>
                </a:solidFill>
                <a:latin typeface="Bahnschrift Condensed" panose="020B0502040204020203" pitchFamily="34" charset="0"/>
              </a:rPr>
              <a:t>Sometimes the clinic demand lot of charges, for higher number of  tests. And Mandatorily a middle-class person cannot afford regular clinical tests, or surveys, due to their high charges. </a:t>
            </a:r>
          </a:p>
          <a:p>
            <a:pPr lvl="1"/>
            <a:r>
              <a:rPr lang="en-IN" sz="2800" dirty="0">
                <a:solidFill>
                  <a:srgbClr val="002060"/>
                </a:solidFill>
                <a:latin typeface="Bahnschrift Condensed" panose="020B0502040204020203" pitchFamily="34" charset="0"/>
              </a:rPr>
              <a:t>And, this increases the chances for any healthy individual, who might think he or she is healthy, but may be he has some underlying disease, growing in the non-tested body.</a:t>
            </a:r>
          </a:p>
          <a:p>
            <a:pPr lvl="1"/>
            <a:r>
              <a:rPr lang="en-IN" sz="2800" dirty="0">
                <a:solidFill>
                  <a:srgbClr val="002060"/>
                </a:solidFill>
                <a:latin typeface="Bahnschrift Condensed" panose="020B0502040204020203" pitchFamily="34" charset="0"/>
              </a:rPr>
              <a:t>Or sometimes the patient might have the capability to get tested in a clinic but cannot pay the charges of a regular doctor. </a:t>
            </a:r>
          </a:p>
          <a:p>
            <a:pPr lvl="1"/>
            <a:endParaRPr lang="en-IN" sz="2200" dirty="0">
              <a:solidFill>
                <a:srgbClr val="002060"/>
              </a:solidFill>
            </a:endParaRPr>
          </a:p>
        </p:txBody>
      </p:sp>
    </p:spTree>
    <p:extLst>
      <p:ext uri="{BB962C8B-B14F-4D97-AF65-F5344CB8AC3E}">
        <p14:creationId xmlns:p14="http://schemas.microsoft.com/office/powerpoint/2010/main" val="35577315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pattFill prst="solidDmnd">
          <a:fgClr>
            <a:schemeClr val="accent4">
              <a:lumMod val="75000"/>
            </a:schemeClr>
          </a:fgClr>
          <a:bgClr>
            <a:schemeClr val="tx1">
              <a:lumMod val="85000"/>
              <a:lumOff val="15000"/>
            </a:schemeClr>
          </a:bgClr>
        </a:patt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F214C-73DD-A748-6062-F203D17AD652}"/>
              </a:ext>
            </a:extLst>
          </p:cNvPr>
          <p:cNvSpPr>
            <a:spLocks noGrp="1"/>
          </p:cNvSpPr>
          <p:nvPr>
            <p:ph type="title"/>
          </p:nvPr>
        </p:nvSpPr>
        <p:spPr>
          <a:xfrm>
            <a:off x="1225099" y="300649"/>
            <a:ext cx="10058400" cy="748452"/>
          </a:xfrm>
          <a:ln>
            <a:solidFill>
              <a:srgbClr val="480000"/>
            </a:solidFill>
          </a:ln>
        </p:spPr>
        <p:txBody>
          <a:bodyPr>
            <a:normAutofit fontScale="90000"/>
          </a:bodyPr>
          <a:lstStyle/>
          <a:p>
            <a:r>
              <a:rPr lang="en-IN" sz="6000" b="1" dirty="0">
                <a:ln>
                  <a:solidFill>
                    <a:sysClr val="windowText" lastClr="000000"/>
                  </a:solidFill>
                </a:ln>
                <a:solidFill>
                  <a:srgbClr val="00B0F0"/>
                </a:solidFill>
                <a:effectLst>
                  <a:glow rad="63500">
                    <a:schemeClr val="accent5">
                      <a:satMod val="175000"/>
                      <a:alpha val="40000"/>
                    </a:schemeClr>
                  </a:glow>
                  <a:outerShdw blurRad="50800" dist="38100" dir="18900000" algn="bl" rotWithShape="0">
                    <a:prstClr val="black">
                      <a:alpha val="40000"/>
                    </a:prstClr>
                  </a:outerShdw>
                </a:effectLst>
                <a:latin typeface="Algerian" panose="04020705040A02060702" pitchFamily="82" charset="0"/>
              </a:rPr>
              <a:t>SOLUTION</a:t>
            </a:r>
            <a:endParaRPr lang="en-IN" b="1" dirty="0">
              <a:ln>
                <a:solidFill>
                  <a:sysClr val="windowText" lastClr="000000"/>
                </a:solidFill>
              </a:ln>
              <a:solidFill>
                <a:srgbClr val="00B0F0"/>
              </a:solidFill>
              <a:effectLst>
                <a:glow rad="63500">
                  <a:schemeClr val="accent5">
                    <a:satMod val="175000"/>
                    <a:alpha val="40000"/>
                  </a:schemeClr>
                </a:glow>
                <a:outerShdw blurRad="50800" dist="38100" dir="18900000" algn="bl" rotWithShape="0">
                  <a:prstClr val="black">
                    <a:alpha val="40000"/>
                  </a:prstClr>
                </a:outerShdw>
              </a:effectLst>
              <a:latin typeface="Algerian" panose="04020705040A02060702" pitchFamily="82" charset="0"/>
            </a:endParaRPr>
          </a:p>
        </p:txBody>
      </p:sp>
      <p:sp>
        <p:nvSpPr>
          <p:cNvPr id="3" name="Content Placeholder 2">
            <a:extLst>
              <a:ext uri="{FF2B5EF4-FFF2-40B4-BE49-F238E27FC236}">
                <a16:creationId xmlns:a16="http://schemas.microsoft.com/office/drawing/2014/main" id="{63D8D2AD-8DAD-5BF2-8AD8-2C1B5B1A17DF}"/>
              </a:ext>
            </a:extLst>
          </p:cNvPr>
          <p:cNvSpPr>
            <a:spLocks noGrp="1"/>
          </p:cNvSpPr>
          <p:nvPr>
            <p:ph idx="1"/>
          </p:nvPr>
        </p:nvSpPr>
        <p:spPr>
          <a:xfrm>
            <a:off x="216311" y="1170039"/>
            <a:ext cx="11857702" cy="5387311"/>
          </a:xfrm>
        </p:spPr>
        <p:txBody>
          <a:bodyPr>
            <a:normAutofit/>
          </a:bodyPr>
          <a:lstStyle/>
          <a:p>
            <a:r>
              <a:rPr lang="en-IN" sz="3200" dirty="0">
                <a:ln>
                  <a:solidFill>
                    <a:sysClr val="windowText" lastClr="000000"/>
                  </a:solidFill>
                </a:ln>
                <a:solidFill>
                  <a:srgbClr val="FFFF00"/>
                </a:solidFill>
                <a:latin typeface="Arial Black" panose="020B0A04020102020204" pitchFamily="34" charset="0"/>
              </a:rPr>
              <a:t>MULTIPLE DISEASE PREDICTION MODEL USING ML:</a:t>
            </a:r>
          </a:p>
          <a:p>
            <a:pPr>
              <a:buClr>
                <a:srgbClr val="FFFFFF"/>
              </a:buClr>
              <a:buFont typeface="Wingdings" panose="05000000000000000000" pitchFamily="2" charset="2"/>
              <a:buChar char="Ø"/>
            </a:pPr>
            <a:r>
              <a:rPr lang="en-IN" sz="2800" b="1" dirty="0">
                <a:solidFill>
                  <a:srgbClr val="FFFF00"/>
                </a:solidFill>
                <a:latin typeface="Bahnschrift SemiBold SemiConden" panose="020B0502040204020203" pitchFamily="34" charset="0"/>
              </a:rPr>
              <a:t>WE HAVE BUILT AN ML MODEL THAT PREDICTS THE USER HAS SOME KIND OF DISEASE OR NOT.</a:t>
            </a:r>
          </a:p>
          <a:p>
            <a:pPr>
              <a:buClr>
                <a:srgbClr val="FFFFFF"/>
              </a:buClr>
              <a:buFont typeface="Wingdings" panose="05000000000000000000" pitchFamily="2" charset="2"/>
              <a:buChar char="Ø"/>
            </a:pPr>
            <a:r>
              <a:rPr lang="en-IN" sz="2800" b="1" dirty="0">
                <a:solidFill>
                  <a:srgbClr val="FFFF00"/>
                </a:solidFill>
                <a:latin typeface="Bahnschrift SemiBold SemiConden" panose="020B0502040204020203" pitchFamily="34" charset="0"/>
              </a:rPr>
              <a:t>OUR MODEL IS DEPLOYED USING STREAMLIT AS A WEB APP WITH AN USER FRIENDLY INTERFACE FOR THE PATIENT TO UNDERSTAND.</a:t>
            </a:r>
          </a:p>
          <a:p>
            <a:pPr>
              <a:buClr>
                <a:srgbClr val="FFFFFF"/>
              </a:buClr>
              <a:buFont typeface="Wingdings" panose="05000000000000000000" pitchFamily="2" charset="2"/>
              <a:buChar char="Ø"/>
            </a:pPr>
            <a:r>
              <a:rPr lang="en-IN" sz="2800" b="1" dirty="0">
                <a:solidFill>
                  <a:srgbClr val="FFFF00"/>
                </a:solidFill>
                <a:latin typeface="Bahnschrift SemiBold SemiConden" panose="020B0502040204020203" pitchFamily="34" charset="0"/>
              </a:rPr>
              <a:t>IT TAKES 20+ PARAMETERS FROM THE USER AND CAN PREDICT AMONG 5+ DISEASE THAT WE HAVE TRAIN OUT MODEL WITH.</a:t>
            </a:r>
          </a:p>
          <a:p>
            <a:pPr>
              <a:buClr>
                <a:srgbClr val="FFFFFF"/>
              </a:buClr>
              <a:buFont typeface="Wingdings" panose="05000000000000000000" pitchFamily="2" charset="2"/>
              <a:buChar char="Ø"/>
            </a:pPr>
            <a:r>
              <a:rPr lang="en-IN" sz="2800" b="1" dirty="0">
                <a:solidFill>
                  <a:srgbClr val="FFFF00"/>
                </a:solidFill>
                <a:latin typeface="Bahnschrift SemiBold SemiConden" panose="020B0502040204020203" pitchFamily="34" charset="0"/>
              </a:rPr>
              <a:t>AND OUR ACCURACY IS EVEN 100% FOR NOW, SO USERS CAN TRUST OUR MODEL.</a:t>
            </a:r>
          </a:p>
          <a:p>
            <a:pPr>
              <a:buClr>
                <a:srgbClr val="FFFFFF"/>
              </a:buClr>
              <a:buFont typeface="Wingdings" panose="05000000000000000000" pitchFamily="2" charset="2"/>
              <a:buChar char="Ø"/>
            </a:pPr>
            <a:r>
              <a:rPr lang="en-IN" sz="2800" b="1" dirty="0">
                <a:solidFill>
                  <a:srgbClr val="FFFF00"/>
                </a:solidFill>
                <a:latin typeface="Bahnschrift SemiBold SemiConden" panose="020B0502040204020203" pitchFamily="34" charset="0"/>
              </a:rPr>
              <a:t>WE HAVE USER 5+ ALGORITHMS FOR GETTING THE MOST ACCURATE ONE.</a:t>
            </a:r>
          </a:p>
        </p:txBody>
      </p:sp>
    </p:spTree>
    <p:extLst>
      <p:ext uri="{BB962C8B-B14F-4D97-AF65-F5344CB8AC3E}">
        <p14:creationId xmlns:p14="http://schemas.microsoft.com/office/powerpoint/2010/main" val="2922762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6103BB-10EB-3A17-6F6F-A3F1FFC7966E}"/>
              </a:ext>
            </a:extLst>
          </p:cNvPr>
          <p:cNvSpPr>
            <a:spLocks noGrp="1"/>
          </p:cNvSpPr>
          <p:nvPr>
            <p:ph sz="half" idx="1"/>
          </p:nvPr>
        </p:nvSpPr>
        <p:spPr>
          <a:xfrm>
            <a:off x="1" y="923330"/>
            <a:ext cx="6096000" cy="5934670"/>
          </a:xfr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a:normAutofit/>
          </a:bodyPr>
          <a:lstStyle/>
          <a:p>
            <a:pPr marR="0" lvl="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Ø"/>
              <a:tabLst/>
              <a:defRPr/>
            </a:pPr>
            <a:r>
              <a:rPr lang="en-US" sz="2000" b="1" cap="none" spc="0" dirty="0">
                <a:solidFill>
                  <a:srgbClr val="FFFF00"/>
                </a:solidFill>
              </a:rPr>
              <a:t> Personalized</a:t>
            </a:r>
            <a:r>
              <a:rPr lang="en-US" sz="2000" cap="none" spc="0" dirty="0">
                <a:solidFill>
                  <a:srgbClr val="FFFF00"/>
                </a:solidFill>
              </a:rPr>
              <a:t> </a:t>
            </a:r>
            <a:r>
              <a:rPr lang="en-US" sz="2000" b="1" cap="none" spc="0" dirty="0">
                <a:solidFill>
                  <a:srgbClr val="FFFF00"/>
                </a:solidFill>
              </a:rPr>
              <a:t>Medicine:</a:t>
            </a:r>
          </a:p>
          <a:p>
            <a:pPr marL="0" marR="0" lvl="0" indent="0" algn="l" defTabSz="914400" rtl="0" eaLnBrk="1" fontAlgn="auto" latinLnBrk="0" hangingPunct="1">
              <a:lnSpc>
                <a:spcPct val="100000"/>
              </a:lnSpc>
              <a:spcBef>
                <a:spcPts val="0"/>
              </a:spcBef>
              <a:spcAft>
                <a:spcPts val="0"/>
              </a:spcAft>
              <a:buClrTx/>
              <a:buSzTx/>
              <a:buNone/>
              <a:tabLst/>
              <a:defRPr/>
            </a:pPr>
            <a:r>
              <a:rPr lang="en-US" sz="2000" b="1" i="1" cap="none" spc="0" dirty="0">
                <a:solidFill>
                  <a:srgbClr val="FFFF00"/>
                </a:solidFill>
              </a:rPr>
              <a:t>	Treatment</a:t>
            </a:r>
            <a:r>
              <a:rPr lang="en-US" sz="2000" cap="none" spc="0" dirty="0">
                <a:solidFill>
                  <a:srgbClr val="FFFF00"/>
                </a:solidFill>
              </a:rPr>
              <a:t> plans based on individual </a:t>
            </a:r>
            <a:r>
              <a:rPr lang="en-US" sz="2000" b="1" i="1" cap="none" spc="0" dirty="0">
                <a:solidFill>
                  <a:srgbClr val="FFFF00"/>
                </a:solidFill>
              </a:rPr>
              <a:t>Patient</a:t>
            </a:r>
            <a:r>
              <a:rPr lang="en-US" sz="2000" cap="none" spc="0" dirty="0">
                <a:solidFill>
                  <a:srgbClr val="FFFF00"/>
                </a:solidFill>
              </a:rPr>
              <a:t> </a:t>
            </a:r>
            <a:r>
              <a:rPr lang="en-US" sz="2000" b="1" i="1" cap="none" spc="0" dirty="0">
                <a:solidFill>
                  <a:srgbClr val="FFFF00"/>
                </a:solidFill>
              </a:rPr>
              <a:t>Profile</a:t>
            </a:r>
            <a:endParaRPr lang="en-US" sz="2000" b="1" i="1" dirty="0">
              <a:solidFill>
                <a:srgbClr val="FFFF00"/>
              </a:solidFill>
            </a:endParaRPr>
          </a:p>
          <a:p>
            <a:pPr marR="0" lvl="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Ø"/>
              <a:tabLst/>
              <a:defRPr/>
            </a:pPr>
            <a:r>
              <a:rPr lang="en-US" sz="2000" b="1" i="1" cap="none" spc="0" dirty="0">
                <a:solidFill>
                  <a:srgbClr val="FFFF00"/>
                </a:solidFill>
              </a:rPr>
              <a:t> </a:t>
            </a:r>
            <a:r>
              <a:rPr lang="en-US" sz="2000" b="1" cap="none" spc="0" dirty="0">
                <a:solidFill>
                  <a:srgbClr val="FFFF00"/>
                </a:solidFill>
              </a:rPr>
              <a:t>Early</a:t>
            </a:r>
            <a:r>
              <a:rPr lang="en-US" sz="2000" cap="none" spc="0" dirty="0">
                <a:solidFill>
                  <a:srgbClr val="FFFF00"/>
                </a:solidFill>
              </a:rPr>
              <a:t> </a:t>
            </a:r>
            <a:r>
              <a:rPr lang="en-US" sz="2000" b="1" cap="none" spc="0" dirty="0">
                <a:solidFill>
                  <a:srgbClr val="FFFF00"/>
                </a:solidFill>
              </a:rPr>
              <a:t>Detection:</a:t>
            </a:r>
          </a:p>
          <a:p>
            <a:pPr marL="0" indent="0">
              <a:buNone/>
            </a:pPr>
            <a:r>
              <a:rPr lang="en-US" sz="2000" b="1" i="1" cap="none" spc="0" dirty="0">
                <a:solidFill>
                  <a:srgbClr val="FFFF00"/>
                </a:solidFill>
              </a:rPr>
              <a:t>	Identifying</a:t>
            </a:r>
            <a:r>
              <a:rPr lang="en-US" sz="2000" cap="none" spc="0" dirty="0">
                <a:solidFill>
                  <a:srgbClr val="FFFF00"/>
                </a:solidFill>
              </a:rPr>
              <a:t> diseases at an </a:t>
            </a:r>
            <a:r>
              <a:rPr lang="en-US" sz="2000" b="1" i="1" cap="none" spc="0" dirty="0">
                <a:solidFill>
                  <a:srgbClr val="FFFF00"/>
                </a:solidFill>
              </a:rPr>
              <a:t>Early</a:t>
            </a:r>
            <a:r>
              <a:rPr lang="en-US" sz="2000" cap="none" spc="0" dirty="0">
                <a:solidFill>
                  <a:srgbClr val="FFFF00"/>
                </a:solidFill>
              </a:rPr>
              <a:t> Stage is more </a:t>
            </a:r>
            <a:r>
              <a:rPr lang="en-US" sz="2000" b="1" i="1" cap="none" spc="0" dirty="0">
                <a:solidFill>
                  <a:srgbClr val="FFFF00"/>
                </a:solidFill>
              </a:rPr>
              <a:t>Treatable</a:t>
            </a:r>
          </a:p>
          <a:p>
            <a:pPr marR="0" lvl="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Ø"/>
              <a:tabLst/>
              <a:defRPr/>
            </a:pPr>
            <a:r>
              <a:rPr lang="en-IN" sz="2000" dirty="0">
                <a:solidFill>
                  <a:srgbClr val="FFFF00"/>
                </a:solidFill>
              </a:rPr>
              <a:t> </a:t>
            </a:r>
            <a:r>
              <a:rPr lang="en-US" sz="2000" b="1" cap="none" spc="0" dirty="0">
                <a:solidFill>
                  <a:srgbClr val="FFFF00"/>
                </a:solidFill>
              </a:rPr>
              <a:t>Resource</a:t>
            </a:r>
            <a:r>
              <a:rPr lang="en-US" sz="2000" cap="none" spc="0" dirty="0">
                <a:solidFill>
                  <a:srgbClr val="FFFF00"/>
                </a:solidFill>
              </a:rPr>
              <a:t> </a:t>
            </a:r>
            <a:r>
              <a:rPr lang="en-US" sz="2000" b="1" cap="none" spc="0" dirty="0">
                <a:solidFill>
                  <a:srgbClr val="FFFF00"/>
                </a:solidFill>
              </a:rPr>
              <a:t>Allocation:</a:t>
            </a:r>
          </a:p>
          <a:p>
            <a:pPr marL="0" indent="0">
              <a:buNone/>
            </a:pPr>
            <a:r>
              <a:rPr lang="en-US" sz="2000" cap="none" spc="0" dirty="0">
                <a:solidFill>
                  <a:srgbClr val="FFFF00"/>
                </a:solidFill>
              </a:rPr>
              <a:t>	Assisting healthcare providers in </a:t>
            </a:r>
            <a:r>
              <a:rPr lang="en-US" sz="2000" b="1" i="1" cap="none" spc="0" dirty="0">
                <a:solidFill>
                  <a:srgbClr val="FFFF00"/>
                </a:solidFill>
              </a:rPr>
              <a:t>planning </a:t>
            </a:r>
            <a:r>
              <a:rPr lang="en-US" sz="2000" b="0" i="0" cap="none" spc="0" dirty="0">
                <a:solidFill>
                  <a:srgbClr val="FFFF00"/>
                </a:solidFill>
              </a:rPr>
              <a:t>and</a:t>
            </a:r>
            <a:r>
              <a:rPr lang="en-US" sz="2000" b="1" i="1" cap="none" spc="0" dirty="0">
                <a:solidFill>
                  <a:srgbClr val="FFFF00"/>
                </a:solidFill>
              </a:rPr>
              <a:t> prioritization</a:t>
            </a:r>
            <a:endParaRPr lang="en-US" sz="2000" b="0" i="0" cap="none" spc="0" dirty="0">
              <a:solidFill>
                <a:srgbClr val="FFFF00"/>
              </a:solidFill>
            </a:endParaRPr>
          </a:p>
          <a:p>
            <a:pPr>
              <a:buFont typeface="Wingdings" panose="05000000000000000000" pitchFamily="2" charset="2"/>
              <a:buChar char="Ø"/>
            </a:pPr>
            <a:r>
              <a:rPr lang="en-IN" sz="2000" b="1" dirty="0">
                <a:solidFill>
                  <a:srgbClr val="FFFF00"/>
                </a:solidFill>
              </a:rPr>
              <a:t> Real Time Prediction:</a:t>
            </a:r>
          </a:p>
          <a:p>
            <a:pPr marL="0" indent="0">
              <a:buNone/>
            </a:pPr>
            <a:r>
              <a:rPr lang="en-IN" sz="2000" b="1" dirty="0">
                <a:solidFill>
                  <a:srgbClr val="FFFF00"/>
                </a:solidFill>
              </a:rPr>
              <a:t>	</a:t>
            </a:r>
            <a:r>
              <a:rPr lang="en-IN" sz="2000" dirty="0">
                <a:solidFill>
                  <a:srgbClr val="FFFF00"/>
                </a:solidFill>
              </a:rPr>
              <a:t>IRL </a:t>
            </a:r>
            <a:r>
              <a:rPr lang="en-IN" sz="2000" b="1" i="1" dirty="0">
                <a:solidFill>
                  <a:srgbClr val="FFFF00"/>
                </a:solidFill>
              </a:rPr>
              <a:t>Prediction</a:t>
            </a:r>
            <a:r>
              <a:rPr lang="en-IN" sz="2000" dirty="0">
                <a:solidFill>
                  <a:srgbClr val="FFFF00"/>
                </a:solidFill>
              </a:rPr>
              <a:t> for </a:t>
            </a:r>
            <a:r>
              <a:rPr lang="en-IN" sz="2000" i="1" dirty="0">
                <a:solidFill>
                  <a:srgbClr val="FFFF00"/>
                </a:solidFill>
              </a:rPr>
              <a:t>Clinical</a:t>
            </a:r>
            <a:r>
              <a:rPr lang="en-IN" sz="2000" dirty="0">
                <a:solidFill>
                  <a:srgbClr val="FFFF00"/>
                </a:solidFill>
              </a:rPr>
              <a:t> decision making</a:t>
            </a:r>
          </a:p>
          <a:p>
            <a:pPr>
              <a:buFont typeface="Wingdings" panose="05000000000000000000" pitchFamily="2" charset="2"/>
              <a:buChar char="Ø"/>
            </a:pPr>
            <a:r>
              <a:rPr lang="en-IN" sz="2000" b="1" dirty="0">
                <a:solidFill>
                  <a:srgbClr val="FFFF00"/>
                </a:solidFill>
              </a:rPr>
              <a:t> Federated Learning: </a:t>
            </a:r>
          </a:p>
          <a:p>
            <a:pPr marL="0" indent="0">
              <a:buNone/>
            </a:pPr>
            <a:r>
              <a:rPr lang="en-IN" sz="2000" dirty="0">
                <a:solidFill>
                  <a:srgbClr val="FFFF00"/>
                </a:solidFill>
              </a:rPr>
              <a:t>	Decentralized ML for privacy reasons.</a:t>
            </a:r>
          </a:p>
        </p:txBody>
      </p:sp>
      <p:sp>
        <p:nvSpPr>
          <p:cNvPr id="4" name="Content Placeholder 3">
            <a:extLst>
              <a:ext uri="{FF2B5EF4-FFF2-40B4-BE49-F238E27FC236}">
                <a16:creationId xmlns:a16="http://schemas.microsoft.com/office/drawing/2014/main" id="{AC075C92-CDF2-50D9-831C-2D025338FF79}"/>
              </a:ext>
            </a:extLst>
          </p:cNvPr>
          <p:cNvSpPr>
            <a:spLocks noGrp="1"/>
          </p:cNvSpPr>
          <p:nvPr>
            <p:ph sz="half" idx="2"/>
          </p:nvPr>
        </p:nvSpPr>
        <p:spPr>
          <a:xfrm>
            <a:off x="6096000" y="923330"/>
            <a:ext cx="6095999" cy="5934670"/>
          </a:xfrm>
        </p:spPr>
        <p:style>
          <a:lnRef idx="0">
            <a:scrgbClr r="0" g="0" b="0"/>
          </a:lnRef>
          <a:fillRef idx="1003">
            <a:schemeClr val="lt2"/>
          </a:fillRef>
          <a:effectRef idx="0">
            <a:scrgbClr r="0" g="0" b="0"/>
          </a:effectRef>
          <a:fontRef idx="major"/>
        </p:style>
        <p:txBody>
          <a:bodyPr>
            <a:normAutofit/>
          </a:bodyPr>
          <a:lstStyle/>
          <a:p>
            <a:pPr>
              <a:buFont typeface="Wingdings" panose="05000000000000000000" pitchFamily="2" charset="2"/>
              <a:buChar char="q"/>
            </a:pPr>
            <a:r>
              <a:rPr lang="en-IN" sz="1600" b="1" dirty="0"/>
              <a:t> </a:t>
            </a:r>
            <a:r>
              <a:rPr lang="en-IN" sz="1700" b="1" dirty="0">
                <a:solidFill>
                  <a:schemeClr val="tx1">
                    <a:lumMod val="95000"/>
                    <a:lumOff val="5000"/>
                  </a:schemeClr>
                </a:solidFill>
              </a:rPr>
              <a:t>PROVIDE ACCESS TO MEDICAL SPECIALIST</a:t>
            </a:r>
          </a:p>
          <a:p>
            <a:pPr>
              <a:buFont typeface="Wingdings" panose="05000000000000000000" pitchFamily="2" charset="2"/>
              <a:buChar char="q"/>
            </a:pPr>
            <a:endParaRPr lang="en-IN" sz="1700" b="1" dirty="0"/>
          </a:p>
          <a:p>
            <a:pPr>
              <a:buFont typeface="Wingdings" panose="05000000000000000000" pitchFamily="2" charset="2"/>
              <a:buChar char="q"/>
            </a:pPr>
            <a:r>
              <a:rPr lang="en-IN" sz="1700" b="1" dirty="0"/>
              <a:t> </a:t>
            </a:r>
            <a:r>
              <a:rPr lang="en-IN" sz="1700" b="1" dirty="0">
                <a:solidFill>
                  <a:schemeClr val="tx1">
                    <a:lumMod val="95000"/>
                    <a:lumOff val="5000"/>
                  </a:schemeClr>
                </a:solidFill>
              </a:rPr>
              <a:t>ENHANCES QUALITY OF HEALTH CARE</a:t>
            </a:r>
          </a:p>
          <a:p>
            <a:pPr>
              <a:buFont typeface="Wingdings" panose="05000000000000000000" pitchFamily="2" charset="2"/>
              <a:buChar char="q"/>
            </a:pPr>
            <a:endParaRPr lang="en-IN" sz="1700" b="1" dirty="0"/>
          </a:p>
          <a:p>
            <a:pPr>
              <a:buFont typeface="Wingdings" panose="05000000000000000000" pitchFamily="2" charset="2"/>
              <a:buChar char="q"/>
            </a:pPr>
            <a:r>
              <a:rPr lang="en-IN" sz="1700" b="1" dirty="0"/>
              <a:t> </a:t>
            </a:r>
            <a:r>
              <a:rPr lang="en-IN" sz="1700" b="1" dirty="0">
                <a:solidFill>
                  <a:schemeClr val="tx1">
                    <a:lumMod val="95000"/>
                    <a:lumOff val="5000"/>
                  </a:schemeClr>
                </a:solidFill>
              </a:rPr>
              <a:t>GREAT SIGNIFICANCE IN ICU</a:t>
            </a:r>
          </a:p>
          <a:p>
            <a:pPr>
              <a:buFont typeface="Wingdings" panose="05000000000000000000" pitchFamily="2" charset="2"/>
              <a:buChar char="q"/>
            </a:pPr>
            <a:endParaRPr lang="en-IN" sz="1700" b="1" dirty="0">
              <a:solidFill>
                <a:schemeClr val="tx1">
                  <a:lumMod val="95000"/>
                  <a:lumOff val="5000"/>
                </a:schemeClr>
              </a:solidFill>
            </a:endParaRPr>
          </a:p>
          <a:p>
            <a:pPr>
              <a:buFont typeface="Wingdings" panose="05000000000000000000" pitchFamily="2" charset="2"/>
              <a:buChar char="q"/>
            </a:pPr>
            <a:r>
              <a:rPr lang="en-IN" sz="1700" dirty="0">
                <a:solidFill>
                  <a:srgbClr val="7030A0"/>
                </a:solidFill>
                <a:latin typeface="Agency FB" panose="020B0503020202020204" pitchFamily="34" charset="0"/>
              </a:rPr>
              <a:t> </a:t>
            </a:r>
            <a:r>
              <a:rPr lang="en-IN" sz="1700" b="1" dirty="0">
                <a:solidFill>
                  <a:schemeClr val="tx1">
                    <a:lumMod val="95000"/>
                    <a:lumOff val="5000"/>
                  </a:schemeClr>
                </a:solidFill>
              </a:rPr>
              <a:t>Explainable AI: Model Development, Transparent and Understandable Prediction</a:t>
            </a:r>
          </a:p>
          <a:p>
            <a:pPr>
              <a:buFont typeface="Wingdings" panose="05000000000000000000" pitchFamily="2" charset="2"/>
              <a:buChar char="q"/>
            </a:pPr>
            <a:endParaRPr lang="en-IN" sz="1700" b="1" dirty="0"/>
          </a:p>
          <a:p>
            <a:pPr>
              <a:buFont typeface="Wingdings" panose="05000000000000000000" pitchFamily="2" charset="2"/>
              <a:buChar char="q"/>
            </a:pPr>
            <a:r>
              <a:rPr lang="en-IN" sz="1700" dirty="0">
                <a:solidFill>
                  <a:schemeClr val="accent4">
                    <a:lumMod val="50000"/>
                  </a:schemeClr>
                </a:solidFill>
                <a:latin typeface="Agency FB" panose="020B0503020202020204" pitchFamily="34" charset="0"/>
              </a:rPr>
              <a:t> </a:t>
            </a:r>
            <a:r>
              <a:rPr lang="en-IN" sz="1700" b="1" dirty="0">
                <a:solidFill>
                  <a:schemeClr val="tx1"/>
                </a:solidFill>
              </a:rPr>
              <a:t>Federated Learning: Decentralized ML for privacy reasons.</a:t>
            </a:r>
          </a:p>
          <a:p>
            <a:pPr>
              <a:buFont typeface="Wingdings" panose="05000000000000000000" pitchFamily="2" charset="2"/>
              <a:buChar char="q"/>
            </a:pPr>
            <a:endParaRPr lang="en-IN" sz="1700" b="1" dirty="0">
              <a:solidFill>
                <a:schemeClr val="tx1"/>
              </a:solidFill>
            </a:endParaRPr>
          </a:p>
          <a:p>
            <a:pPr>
              <a:buFont typeface="Wingdings" panose="05000000000000000000" pitchFamily="2" charset="2"/>
              <a:buChar char="q"/>
            </a:pPr>
            <a:r>
              <a:rPr lang="en-IN" sz="1700" dirty="0">
                <a:solidFill>
                  <a:schemeClr val="accent4">
                    <a:lumMod val="50000"/>
                  </a:schemeClr>
                </a:solidFill>
                <a:latin typeface="Agency FB" panose="020B0503020202020204" pitchFamily="34" charset="0"/>
              </a:rPr>
              <a:t> </a:t>
            </a:r>
            <a:r>
              <a:rPr lang="en-IN" sz="1700" b="1" dirty="0">
                <a:solidFill>
                  <a:schemeClr val="tx1"/>
                </a:solidFill>
              </a:rPr>
              <a:t>Multi Modal Learning: Training of model, Integration of data, Imaging and accuracy purpose.</a:t>
            </a:r>
          </a:p>
          <a:p>
            <a:pPr>
              <a:buFont typeface="Wingdings" panose="05000000000000000000" pitchFamily="2" charset="2"/>
              <a:buChar char="q"/>
            </a:pPr>
            <a:endParaRPr lang="en-IN" sz="1800" b="1" dirty="0">
              <a:solidFill>
                <a:schemeClr val="tx1"/>
              </a:solidFill>
            </a:endParaRPr>
          </a:p>
          <a:p>
            <a:pPr marL="201168" lvl="1" indent="0">
              <a:buNone/>
            </a:pPr>
            <a:endParaRPr lang="en-IN" sz="1600" b="1" dirty="0"/>
          </a:p>
          <a:p>
            <a:pPr lvl="1">
              <a:buFont typeface="Wingdings" panose="05000000000000000000" pitchFamily="2" charset="2"/>
              <a:buChar char="q"/>
            </a:pPr>
            <a:endParaRPr lang="en-IN" sz="1600" b="1" dirty="0"/>
          </a:p>
        </p:txBody>
      </p:sp>
      <p:sp>
        <p:nvSpPr>
          <p:cNvPr id="6" name="Rectangle 5">
            <a:extLst>
              <a:ext uri="{FF2B5EF4-FFF2-40B4-BE49-F238E27FC236}">
                <a16:creationId xmlns:a16="http://schemas.microsoft.com/office/drawing/2014/main" id="{9027C314-F906-59E2-EA4F-C09022351B42}"/>
              </a:ext>
            </a:extLst>
          </p:cNvPr>
          <p:cNvSpPr/>
          <p:nvPr/>
        </p:nvSpPr>
        <p:spPr>
          <a:xfrm>
            <a:off x="0" y="0"/>
            <a:ext cx="12192001" cy="923330"/>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wrap="squar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anose="04020705040A02060702" pitchFamily="82" charset="0"/>
              </a:rPr>
              <a:t>OBJECTIVEs and scope</a:t>
            </a:r>
          </a:p>
        </p:txBody>
      </p:sp>
    </p:spTree>
    <p:extLst>
      <p:ext uri="{BB962C8B-B14F-4D97-AF65-F5344CB8AC3E}">
        <p14:creationId xmlns:p14="http://schemas.microsoft.com/office/powerpoint/2010/main" val="3750078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12000">
              <a:srgbClr val="CCFF99"/>
            </a:gs>
            <a:gs pos="58000">
              <a:srgbClr val="B6D1DE"/>
            </a:gs>
            <a:gs pos="30078">
              <a:srgbClr val="99FFCC"/>
            </a:gs>
            <a:gs pos="83000">
              <a:schemeClr val="accent1">
                <a:lumMod val="60000"/>
                <a:lumOff val="40000"/>
              </a:schemeClr>
            </a:gs>
            <a:gs pos="100000">
              <a:schemeClr val="bg2">
                <a:lumMod val="5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C86D3-8FD1-4F47-A319-7D0542E48B2F}"/>
              </a:ext>
            </a:extLst>
          </p:cNvPr>
          <p:cNvSpPr>
            <a:spLocks noGrp="1"/>
          </p:cNvSpPr>
          <p:nvPr>
            <p:ph type="title"/>
          </p:nvPr>
        </p:nvSpPr>
        <p:spPr>
          <a:xfrm>
            <a:off x="658762" y="266506"/>
            <a:ext cx="10343536" cy="1450757"/>
          </a:xfrm>
        </p:spPr>
        <p:txBody>
          <a:bodyPr vert="horz" lIns="91440" tIns="45720" rIns="91440" bIns="45720" rtlCol="0">
            <a:normAutofit/>
          </a:bodyPr>
          <a:lstStyle/>
          <a:p>
            <a:pPr algn="ctr"/>
            <a:r>
              <a:rPr lang="en-US" sz="5400" dirty="0">
                <a:solidFill>
                  <a:srgbClr val="006600"/>
                </a:solidFill>
                <a:latin typeface="Algerian" panose="04020705040A02060702" pitchFamily="82" charset="0"/>
              </a:rPr>
              <a:t>methodology</a:t>
            </a:r>
            <a:endParaRPr lang="en-US" sz="4800" dirty="0">
              <a:solidFill>
                <a:srgbClr val="006600"/>
              </a:solidFill>
              <a:latin typeface="Algerian" panose="04020705040A02060702" pitchFamily="82" charset="0"/>
            </a:endParaRPr>
          </a:p>
        </p:txBody>
      </p:sp>
      <p:graphicFrame>
        <p:nvGraphicFramePr>
          <p:cNvPr id="4" name="Table 4">
            <a:extLst>
              <a:ext uri="{FF2B5EF4-FFF2-40B4-BE49-F238E27FC236}">
                <a16:creationId xmlns:a16="http://schemas.microsoft.com/office/drawing/2014/main" id="{C266CDD0-3E96-40BD-8324-62D1DD86152D}"/>
              </a:ext>
            </a:extLst>
          </p:cNvPr>
          <p:cNvGraphicFramePr>
            <a:graphicFrameLocks noGrp="1"/>
          </p:cNvGraphicFramePr>
          <p:nvPr>
            <p:ph idx="1"/>
            <p:extLst>
              <p:ext uri="{D42A27DB-BD31-4B8C-83A1-F6EECF244321}">
                <p14:modId xmlns:p14="http://schemas.microsoft.com/office/powerpoint/2010/main" val="1694369678"/>
              </p:ext>
            </p:extLst>
          </p:nvPr>
        </p:nvGraphicFramePr>
        <p:xfrm>
          <a:off x="-7" y="1921912"/>
          <a:ext cx="12192006" cy="4805128"/>
        </p:xfrm>
        <a:graphic>
          <a:graphicData uri="http://schemas.openxmlformats.org/drawingml/2006/table">
            <a:tbl>
              <a:tblPr firstRow="1" bandRow="1">
                <a:noFill/>
                <a:tableStyleId>{3B4B98B0-60AC-42C2-AFA5-B58CD77FA1E5}</a:tableStyleId>
              </a:tblPr>
              <a:tblGrid>
                <a:gridCol w="3903413">
                  <a:extLst>
                    <a:ext uri="{9D8B030D-6E8A-4147-A177-3AD203B41FA5}">
                      <a16:colId xmlns:a16="http://schemas.microsoft.com/office/drawing/2014/main" val="2981917977"/>
                    </a:ext>
                  </a:extLst>
                </a:gridCol>
                <a:gridCol w="4070555">
                  <a:extLst>
                    <a:ext uri="{9D8B030D-6E8A-4147-A177-3AD203B41FA5}">
                      <a16:colId xmlns:a16="http://schemas.microsoft.com/office/drawing/2014/main" val="945233394"/>
                    </a:ext>
                  </a:extLst>
                </a:gridCol>
                <a:gridCol w="4218038">
                  <a:extLst>
                    <a:ext uri="{9D8B030D-6E8A-4147-A177-3AD203B41FA5}">
                      <a16:colId xmlns:a16="http://schemas.microsoft.com/office/drawing/2014/main" val="2572263168"/>
                    </a:ext>
                  </a:extLst>
                </a:gridCol>
              </a:tblGrid>
              <a:tr h="687999">
                <a:tc>
                  <a:txBody>
                    <a:bodyPr/>
                    <a:lstStyle/>
                    <a:p>
                      <a:r>
                        <a:rPr lang="en-US" sz="2800" b="0" cap="all" spc="150" dirty="0">
                          <a:solidFill>
                            <a:schemeClr val="lt1"/>
                          </a:solidFill>
                        </a:rPr>
                        <a:t>Involves</a:t>
                      </a:r>
                    </a:p>
                  </a:txBody>
                  <a:tcPr marL="151061" marR="151061" marT="151061" marB="151061">
                    <a:lnL w="12700" cmpd="sng">
                      <a:noFill/>
                    </a:lnL>
                    <a:lnR w="12700" cmpd="sng">
                      <a:noFill/>
                    </a:lnR>
                    <a:lnT w="12700" cmpd="sng">
                      <a:noFill/>
                    </a:lnT>
                    <a:lnB w="38100" cmpd="sng">
                      <a:noFill/>
                    </a:lnB>
                    <a:solidFill>
                      <a:schemeClr val="accent1"/>
                    </a:solidFill>
                  </a:tcPr>
                </a:tc>
                <a:tc>
                  <a:txBody>
                    <a:bodyPr/>
                    <a:lstStyle/>
                    <a:p>
                      <a:r>
                        <a:rPr lang="en-US" sz="2800" b="0" cap="all" spc="150" dirty="0">
                          <a:solidFill>
                            <a:schemeClr val="lt1"/>
                          </a:solidFill>
                        </a:rPr>
                        <a:t>Key concepts</a:t>
                      </a:r>
                    </a:p>
                  </a:txBody>
                  <a:tcPr marL="151061" marR="151061" marT="151061" marB="151061">
                    <a:lnL w="12700" cmpd="sng">
                      <a:noFill/>
                    </a:lnL>
                    <a:lnR w="12700" cmpd="sng">
                      <a:noFill/>
                    </a:lnR>
                    <a:lnT w="12700" cmpd="sng">
                      <a:noFill/>
                    </a:lnT>
                    <a:lnB w="38100" cmpd="sng">
                      <a:noFill/>
                    </a:lnB>
                    <a:solidFill>
                      <a:schemeClr val="accent1"/>
                    </a:solidFill>
                  </a:tcPr>
                </a:tc>
                <a:tc>
                  <a:txBody>
                    <a:bodyPr/>
                    <a:lstStyle/>
                    <a:p>
                      <a:r>
                        <a:rPr lang="en-US" sz="2800" b="0" cap="all" spc="150" dirty="0">
                          <a:solidFill>
                            <a:schemeClr val="lt1"/>
                          </a:solidFill>
                        </a:rPr>
                        <a:t>Steps</a:t>
                      </a:r>
                    </a:p>
                  </a:txBody>
                  <a:tcPr marL="151061" marR="151061" marT="151061" marB="151061">
                    <a:lnL w="12700" cmpd="sng">
                      <a:noFill/>
                    </a:lnL>
                    <a:lnR w="12700" cmpd="sng">
                      <a:noFill/>
                    </a:lnR>
                    <a:lnT w="12700" cmpd="sng">
                      <a:noFill/>
                    </a:lnT>
                    <a:lnB w="38100" cmpd="sng">
                      <a:noFill/>
                    </a:lnB>
                    <a:solidFill>
                      <a:schemeClr val="accent1"/>
                    </a:solidFill>
                  </a:tcPr>
                </a:tc>
                <a:extLst>
                  <a:ext uri="{0D108BD9-81ED-4DB2-BD59-A6C34878D82A}">
                    <a16:rowId xmlns:a16="http://schemas.microsoft.com/office/drawing/2014/main" val="2580512675"/>
                  </a:ext>
                </a:extLst>
              </a:tr>
              <a:tr h="1190368">
                <a:tc>
                  <a:txBody>
                    <a:bodyPr/>
                    <a:lstStyle/>
                    <a:p>
                      <a:r>
                        <a:rPr lang="en-US" sz="1600" cap="none" spc="0" dirty="0">
                          <a:solidFill>
                            <a:schemeClr val="tx1"/>
                          </a:solidFill>
                        </a:rPr>
                        <a:t>Creating </a:t>
                      </a:r>
                      <a:r>
                        <a:rPr lang="en-US" sz="1600" b="1" cap="none" spc="0" dirty="0">
                          <a:solidFill>
                            <a:schemeClr val="tx1"/>
                          </a:solidFill>
                        </a:rPr>
                        <a:t>Models</a:t>
                      </a:r>
                      <a:r>
                        <a:rPr lang="en-US" sz="1600" cap="none" spc="0" dirty="0">
                          <a:solidFill>
                            <a:schemeClr val="tx1"/>
                          </a:solidFill>
                        </a:rPr>
                        <a:t> that can </a:t>
                      </a:r>
                      <a:r>
                        <a:rPr lang="en-US" sz="1600" b="1" cap="none" spc="0" dirty="0">
                          <a:solidFill>
                            <a:schemeClr val="tx1"/>
                          </a:solidFill>
                        </a:rPr>
                        <a:t>predict</a:t>
                      </a:r>
                      <a:r>
                        <a:rPr lang="en-US" sz="1600" cap="none" spc="0" dirty="0">
                          <a:solidFill>
                            <a:schemeClr val="tx1"/>
                          </a:solidFill>
                        </a:rPr>
                        <a:t> the occurrence of various diseases</a:t>
                      </a:r>
                    </a:p>
                  </a:txBody>
                  <a:tcPr marL="151061" marR="151061" marT="151061" marB="151061">
                    <a:lnL w="12700" cmpd="sng">
                      <a:noFill/>
                      <a:prstDash val="solid"/>
                    </a:lnL>
                    <a:lnR w="12700" cmpd="sng">
                      <a:noFill/>
                      <a:prstDash val="solid"/>
                    </a:lnR>
                    <a:lnT w="38100" cmpd="sng">
                      <a:noFill/>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Data</a:t>
                      </a:r>
                      <a:r>
                        <a:rPr lang="en-US" sz="1600" cap="none" spc="0" dirty="0">
                          <a:solidFill>
                            <a:schemeClr val="tx1"/>
                          </a:solidFill>
                        </a:rPr>
                        <a:t> </a:t>
                      </a:r>
                      <a:r>
                        <a:rPr lang="en-US" sz="1600" b="1" cap="none" spc="0" dirty="0">
                          <a:solidFill>
                            <a:schemeClr val="tx1"/>
                          </a:solidFill>
                        </a:rPr>
                        <a:t>Types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none" spc="0" dirty="0">
                          <a:solidFill>
                            <a:schemeClr val="tx1"/>
                          </a:solidFill>
                        </a:rPr>
                        <a:t>( Clinical Data, Imaging Data, Lifestyle Data, etc. that are  available of </a:t>
                      </a:r>
                      <a:r>
                        <a:rPr lang="en-US" sz="1600" b="1" i="1" cap="none" spc="0" dirty="0">
                          <a:solidFill>
                            <a:schemeClr val="tx1"/>
                          </a:solidFill>
                        </a:rPr>
                        <a:t>collected</a:t>
                      </a:r>
                      <a:r>
                        <a:rPr lang="en-US" sz="1600" cap="none" spc="0" dirty="0">
                          <a:solidFill>
                            <a:schemeClr val="tx1"/>
                          </a:solidFill>
                        </a:rPr>
                        <a:t>)</a:t>
                      </a:r>
                    </a:p>
                    <a:p>
                      <a:endParaRPr lang="en-US" sz="1600" cap="none" spc="0" dirty="0">
                        <a:solidFill>
                          <a:schemeClr val="tx1"/>
                        </a:solidFill>
                      </a:endParaRPr>
                    </a:p>
                  </a:txBody>
                  <a:tcPr marL="151061" marR="151061" marT="151061" marB="151061">
                    <a:lnL w="12700" cmpd="sng">
                      <a:noFill/>
                      <a:prstDash val="solid"/>
                    </a:lnL>
                    <a:lnR w="12700" cmpd="sng">
                      <a:noFill/>
                      <a:prstDash val="solid"/>
                    </a:lnR>
                    <a:lnT w="38100" cmpd="sng">
                      <a:noFill/>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Model Selection</a:t>
                      </a:r>
                    </a:p>
                    <a:p>
                      <a:pPr marL="171450" indent="-171450">
                        <a:buFontTx/>
                        <a:buChar char="-"/>
                      </a:pPr>
                      <a:r>
                        <a:rPr lang="en-US" sz="1600" cap="none" spc="0" dirty="0">
                          <a:solidFill>
                            <a:schemeClr val="tx1"/>
                          </a:solidFill>
                        </a:rPr>
                        <a:t>Tradition ML Models ( Logistic Regression, Decision Tree, etc.)</a:t>
                      </a:r>
                    </a:p>
                    <a:p>
                      <a:pPr marL="171450" indent="-171450">
                        <a:buFontTx/>
                        <a:buChar char="-"/>
                      </a:pPr>
                      <a:r>
                        <a:rPr lang="en-US" sz="1600" cap="none" spc="0" dirty="0">
                          <a:solidFill>
                            <a:schemeClr val="tx1"/>
                          </a:solidFill>
                        </a:rPr>
                        <a:t>Deep Learning Models, etc.</a:t>
                      </a:r>
                    </a:p>
                  </a:txBody>
                  <a:tcPr marL="151061" marR="151061" marT="151061" marB="151061">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2085369860"/>
                  </a:ext>
                </a:extLst>
              </a:tr>
              <a:tr h="1190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none" spc="0" dirty="0">
                          <a:solidFill>
                            <a:schemeClr val="tx1"/>
                          </a:solidFill>
                        </a:rPr>
                        <a:t>Large </a:t>
                      </a:r>
                      <a:r>
                        <a:rPr lang="en-US" sz="1600" b="1" cap="none" spc="0" dirty="0">
                          <a:solidFill>
                            <a:schemeClr val="tx1"/>
                          </a:solidFill>
                        </a:rPr>
                        <a:t>Datasets</a:t>
                      </a:r>
                      <a:r>
                        <a:rPr lang="en-US" sz="1600" cap="none" spc="0" dirty="0">
                          <a:solidFill>
                            <a:schemeClr val="tx1"/>
                          </a:solidFill>
                        </a:rPr>
                        <a:t> and sophisticated </a:t>
                      </a:r>
                      <a:r>
                        <a:rPr lang="en-US" sz="1600" b="1" cap="none" spc="0" dirty="0">
                          <a:solidFill>
                            <a:schemeClr val="tx1"/>
                          </a:solidFill>
                        </a:rPr>
                        <a:t>Algorithms</a:t>
                      </a:r>
                      <a:r>
                        <a:rPr lang="en-US" sz="1600" cap="none" spc="0" dirty="0">
                          <a:solidFill>
                            <a:schemeClr val="tx1"/>
                          </a:solidFill>
                        </a:rPr>
                        <a:t> to identify </a:t>
                      </a:r>
                      <a:r>
                        <a:rPr lang="en-US" sz="1600" b="1" cap="none" spc="0" dirty="0">
                          <a:solidFill>
                            <a:schemeClr val="tx1"/>
                          </a:solidFill>
                        </a:rPr>
                        <a:t>patterns</a:t>
                      </a:r>
                    </a:p>
                    <a:p>
                      <a:endParaRPr lang="en-US" sz="1600" cap="none" spc="0" dirty="0">
                        <a:solidFill>
                          <a:schemeClr val="tx1"/>
                        </a:solidFill>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Feature Engineering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none" spc="0" dirty="0">
                          <a:solidFill>
                            <a:schemeClr val="tx1"/>
                          </a:solidFill>
                        </a:rPr>
                        <a:t>( Extracting features from </a:t>
                      </a:r>
                      <a:r>
                        <a:rPr lang="en-US" sz="1600" b="1" i="1" cap="none" spc="0" dirty="0">
                          <a:solidFill>
                            <a:schemeClr val="tx1"/>
                          </a:solidFill>
                        </a:rPr>
                        <a:t>Raw</a:t>
                      </a:r>
                      <a:r>
                        <a:rPr lang="en-US" sz="1600" cap="none" spc="0" dirty="0">
                          <a:solidFill>
                            <a:schemeClr val="tx1"/>
                          </a:solidFill>
                        </a:rPr>
                        <a:t> </a:t>
                      </a:r>
                      <a:r>
                        <a:rPr lang="en-US" sz="1600" b="1" i="1" cap="none" spc="0" dirty="0">
                          <a:solidFill>
                            <a:schemeClr val="tx1"/>
                          </a:solidFill>
                        </a:rPr>
                        <a:t>Data</a:t>
                      </a:r>
                      <a:r>
                        <a:rPr lang="en-US" sz="1600" cap="none" spc="0" dirty="0">
                          <a:solidFill>
                            <a:schemeClr val="tx1"/>
                          </a:solidFill>
                        </a:rPr>
                        <a:t> to </a:t>
                      </a:r>
                      <a:r>
                        <a:rPr lang="en-US" sz="1600" b="1" i="1" cap="none" spc="0" dirty="0">
                          <a:solidFill>
                            <a:schemeClr val="tx1"/>
                          </a:solidFill>
                        </a:rPr>
                        <a:t>Train</a:t>
                      </a:r>
                      <a:r>
                        <a:rPr lang="en-US" sz="1600" cap="none" spc="0" dirty="0">
                          <a:solidFill>
                            <a:schemeClr val="tx1"/>
                          </a:solidFill>
                        </a:rPr>
                        <a:t> ML models )</a:t>
                      </a:r>
                    </a:p>
                    <a:p>
                      <a:endParaRPr lang="en-US" sz="1600" cap="none" spc="0" dirty="0">
                        <a:solidFill>
                          <a:schemeClr val="tx1"/>
                        </a:solidFill>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Training and Validation</a:t>
                      </a:r>
                    </a:p>
                    <a:p>
                      <a:pPr marL="171450" indent="-171450">
                        <a:buFontTx/>
                        <a:buChar char="-"/>
                      </a:pPr>
                      <a:r>
                        <a:rPr lang="en-US" sz="1600" cap="none" spc="0" dirty="0">
                          <a:solidFill>
                            <a:schemeClr val="tx1"/>
                          </a:solidFill>
                        </a:rPr>
                        <a:t>Splitting Data</a:t>
                      </a:r>
                    </a:p>
                    <a:p>
                      <a:pPr marL="171450" indent="-171450">
                        <a:buFontTx/>
                        <a:buChar char="-"/>
                      </a:pPr>
                      <a:r>
                        <a:rPr lang="en-US" sz="1600" cap="none" spc="0" dirty="0">
                          <a:solidFill>
                            <a:schemeClr val="tx1"/>
                          </a:solidFill>
                        </a:rPr>
                        <a:t>Cross Validation </a:t>
                      </a:r>
                    </a:p>
                    <a:p>
                      <a:pPr marL="171450" indent="-171450">
                        <a:buFontTx/>
                        <a:buChar char="-"/>
                      </a:pPr>
                      <a:r>
                        <a:rPr lang="en-US" sz="1600" cap="none" spc="0" dirty="0">
                          <a:solidFill>
                            <a:schemeClr val="tx1"/>
                          </a:solidFill>
                        </a:rPr>
                        <a:t>Tuning, etc.</a:t>
                      </a:r>
                    </a:p>
                  </a:txBody>
                  <a:tcPr marL="151061" marR="151061" marT="151061" marB="151061">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extLst>
                  <a:ext uri="{0D108BD9-81ED-4DB2-BD59-A6C34878D82A}">
                    <a16:rowId xmlns:a16="http://schemas.microsoft.com/office/drawing/2014/main" val="4252228359"/>
                  </a:ext>
                </a:extLst>
              </a:tr>
              <a:tr h="14101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none" spc="0" dirty="0">
                          <a:solidFill>
                            <a:schemeClr val="tx1"/>
                          </a:solidFill>
                        </a:rPr>
                        <a:t>Identify or create apparent </a:t>
                      </a:r>
                      <a:r>
                        <a:rPr lang="en-US" sz="1600" b="1" cap="none" spc="0" dirty="0">
                          <a:solidFill>
                            <a:schemeClr val="tx1"/>
                          </a:solidFill>
                        </a:rPr>
                        <a:t>Correlations</a:t>
                      </a:r>
                      <a:r>
                        <a:rPr lang="en-US" sz="1600" cap="none" spc="0" dirty="0">
                          <a:solidFill>
                            <a:schemeClr val="tx1"/>
                          </a:solidFill>
                        </a:rPr>
                        <a:t> through </a:t>
                      </a:r>
                      <a:r>
                        <a:rPr lang="en-US" sz="1600" b="1" cap="none" spc="0" dirty="0">
                          <a:solidFill>
                            <a:schemeClr val="tx1"/>
                          </a:solidFill>
                        </a:rPr>
                        <a:t>traditional methods</a:t>
                      </a:r>
                    </a:p>
                    <a:p>
                      <a:endParaRPr lang="en-US" sz="1600" cap="none" spc="0" dirty="0">
                        <a:solidFill>
                          <a:schemeClr val="tx1"/>
                        </a:solidFill>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Labelling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cap="none" spc="0" dirty="0">
                          <a:solidFill>
                            <a:schemeClr val="tx1"/>
                          </a:solidFill>
                        </a:rPr>
                        <a:t>( Multi-Class or Binary </a:t>
                      </a:r>
                      <a:r>
                        <a:rPr lang="en-US" sz="1600" b="1" i="1" cap="none" spc="0" dirty="0">
                          <a:solidFill>
                            <a:schemeClr val="tx1"/>
                          </a:solidFill>
                        </a:rPr>
                        <a:t>Labelling</a:t>
                      </a:r>
                      <a:r>
                        <a:rPr lang="en-US" sz="1600" cap="none" spc="0" dirty="0">
                          <a:solidFill>
                            <a:schemeClr val="tx1"/>
                          </a:solidFill>
                        </a:rPr>
                        <a:t> of raw data for </a:t>
                      </a:r>
                      <a:r>
                        <a:rPr lang="en-US" sz="1600" b="1" i="1" cap="none" spc="0" dirty="0">
                          <a:solidFill>
                            <a:schemeClr val="tx1"/>
                          </a:solidFill>
                        </a:rPr>
                        <a:t>Supervised</a:t>
                      </a:r>
                      <a:r>
                        <a:rPr lang="en-US" sz="1600" cap="none" spc="0" dirty="0">
                          <a:solidFill>
                            <a:schemeClr val="tx1"/>
                          </a:solidFill>
                        </a:rPr>
                        <a:t> Learning)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cap="none" spc="0" dirty="0">
                        <a:solidFill>
                          <a:schemeClr val="tx1"/>
                        </a:solidFill>
                      </a:endParaRPr>
                    </a:p>
                    <a:p>
                      <a:endParaRPr lang="en-US" sz="1600" cap="none" spc="0" dirty="0">
                        <a:solidFill>
                          <a:schemeClr val="tx1"/>
                        </a:solidFill>
                      </a:endParaRPr>
                    </a:p>
                  </a:txBody>
                  <a:tcPr marL="151061" marR="151061" marT="151061" marB="151061">
                    <a:lnL w="12700" cmpd="sng">
                      <a:noFill/>
                      <a:prstDash val="solid"/>
                    </a:lnL>
                    <a:lnR w="12700" cmpd="sng">
                      <a:noFill/>
                      <a:prstDash val="solid"/>
                    </a:lnR>
                    <a:lnT w="12700" cmpd="sng">
                      <a:noFill/>
                      <a:prstDash val="solid"/>
                    </a:lnT>
                    <a:lnB w="12700" cmpd="sng">
                      <a:no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cap="none" spc="0" dirty="0">
                          <a:solidFill>
                            <a:schemeClr val="tx1"/>
                          </a:solidFill>
                        </a:rPr>
                        <a:t>Evaluation Metrices</a:t>
                      </a:r>
                    </a:p>
                    <a:p>
                      <a:pPr marL="171450" indent="-171450">
                        <a:buFontTx/>
                        <a:buChar char="-"/>
                      </a:pPr>
                      <a:r>
                        <a:rPr lang="en-US" sz="1600" cap="none" spc="0" dirty="0">
                          <a:solidFill>
                            <a:schemeClr val="tx1"/>
                          </a:solidFill>
                        </a:rPr>
                        <a:t>Accuracy</a:t>
                      </a:r>
                    </a:p>
                    <a:p>
                      <a:pPr marL="171450" indent="-171450">
                        <a:buFontTx/>
                        <a:buChar char="-"/>
                      </a:pPr>
                      <a:r>
                        <a:rPr lang="en-US" sz="1600" cap="none" spc="0" dirty="0">
                          <a:solidFill>
                            <a:schemeClr val="tx1"/>
                          </a:solidFill>
                        </a:rPr>
                        <a:t>Precision and Recall</a:t>
                      </a:r>
                    </a:p>
                    <a:p>
                      <a:pPr marL="171450" indent="-171450">
                        <a:buFontTx/>
                        <a:buChar char="-"/>
                      </a:pPr>
                      <a:r>
                        <a:rPr lang="en-US" sz="1600" cap="none" spc="0" dirty="0">
                          <a:solidFill>
                            <a:schemeClr val="tx1"/>
                          </a:solidFill>
                        </a:rPr>
                        <a:t>F1 Score, etc.</a:t>
                      </a:r>
                    </a:p>
                  </a:txBody>
                  <a:tcPr marL="151061" marR="151061" marT="151061" marB="151061">
                    <a:lnL w="12700" cmpd="sng">
                      <a:noFill/>
                      <a:prstDash val="solid"/>
                    </a:lnL>
                    <a:lnR w="12700" cmpd="sng">
                      <a:noFill/>
                      <a:prstDash val="solid"/>
                    </a:lnR>
                    <a:lnT w="12700" cmpd="sng">
                      <a:noFill/>
                      <a:prstDash val="solid"/>
                    </a:lnT>
                    <a:lnB w="12700" cmpd="sng">
                      <a:noFill/>
                      <a:prstDash val="solid"/>
                    </a:lnB>
                    <a:noFill/>
                  </a:tcPr>
                </a:tc>
                <a:extLst>
                  <a:ext uri="{0D108BD9-81ED-4DB2-BD59-A6C34878D82A}">
                    <a16:rowId xmlns:a16="http://schemas.microsoft.com/office/drawing/2014/main" val="2578144993"/>
                  </a:ext>
                </a:extLst>
              </a:tr>
            </a:tbl>
          </a:graphicData>
        </a:graphic>
      </p:graphicFrame>
    </p:spTree>
    <p:extLst>
      <p:ext uri="{BB962C8B-B14F-4D97-AF65-F5344CB8AC3E}">
        <p14:creationId xmlns:p14="http://schemas.microsoft.com/office/powerpoint/2010/main" val="293351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90205">
              <a:srgbClr val="989592"/>
            </a:gs>
            <a:gs pos="81827">
              <a:srgbClr val="ADA8A2"/>
            </a:gs>
            <a:gs pos="13994">
              <a:srgbClr val="C7B4AA"/>
            </a:gs>
            <a:gs pos="60836">
              <a:srgbClr val="E2D7C9"/>
            </a:gs>
            <a:gs pos="41956">
              <a:srgbClr val="E8D9CB"/>
            </a:gs>
            <a:gs pos="25169">
              <a:srgbClr val="D4C3B7"/>
            </a:gs>
            <a:gs pos="70641">
              <a:srgbClr val="C9C1B7"/>
            </a:gs>
            <a:gs pos="53100">
              <a:schemeClr val="accent3">
                <a:lumMod val="20000"/>
                <a:lumOff val="80000"/>
              </a:schemeClr>
            </a:gs>
            <a:gs pos="0">
              <a:schemeClr val="bg2">
                <a:lumMod val="75000"/>
              </a:schemeClr>
            </a:gs>
            <a:gs pos="100000">
              <a:schemeClr val="bg1">
                <a:lumMod val="50000"/>
              </a:schemeClr>
            </a:gs>
          </a:gsLst>
          <a:lin ang="16200000" scaled="0"/>
        </a:gra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486245-2595-D750-44CE-E5626210B065}"/>
              </a:ext>
            </a:extLst>
          </p:cNvPr>
          <p:cNvSpPr/>
          <p:nvPr/>
        </p:nvSpPr>
        <p:spPr>
          <a:xfrm>
            <a:off x="2901856" y="76651"/>
            <a:ext cx="6388288" cy="92333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5400" b="1" dirty="0">
                <a:ln>
                  <a:solidFill>
                    <a:srgbClr val="480000"/>
                  </a:solidFill>
                </a:ln>
                <a:solidFill>
                  <a:srgbClr val="FF0000"/>
                </a:solidFill>
                <a:effectLst>
                  <a:glow rad="63500">
                    <a:schemeClr val="accent5">
                      <a:satMod val="175000"/>
                      <a:alpha val="40000"/>
                    </a:schemeClr>
                  </a:glow>
                </a:effectLst>
                <a:latin typeface="Algerian" panose="04020705040A02060702" pitchFamily="82" charset="0"/>
              </a:rPr>
              <a:t>DATA DESCRIPTION</a:t>
            </a:r>
            <a:endParaRPr lang="en-US" sz="5400" b="1" cap="none" spc="0" dirty="0">
              <a:ln>
                <a:solidFill>
                  <a:srgbClr val="480000"/>
                </a:solidFill>
              </a:ln>
              <a:solidFill>
                <a:srgbClr val="FF0000"/>
              </a:solidFill>
              <a:effectLst>
                <a:glow rad="63500">
                  <a:schemeClr val="accent5">
                    <a:satMod val="175000"/>
                    <a:alpha val="40000"/>
                  </a:schemeClr>
                </a:glow>
              </a:effectLst>
              <a:latin typeface="Algerian" panose="04020705040A02060702" pitchFamily="82" charset="0"/>
            </a:endParaRPr>
          </a:p>
        </p:txBody>
      </p:sp>
      <p:pic>
        <p:nvPicPr>
          <p:cNvPr id="5" name="Picture 4">
            <a:extLst>
              <a:ext uri="{FF2B5EF4-FFF2-40B4-BE49-F238E27FC236}">
                <a16:creationId xmlns:a16="http://schemas.microsoft.com/office/drawing/2014/main" id="{CE19C0FE-6CAF-82F9-2D0B-2D5CFEB0264F}"/>
              </a:ext>
            </a:extLst>
          </p:cNvPr>
          <p:cNvPicPr>
            <a:picLocks noChangeAspect="1"/>
          </p:cNvPicPr>
          <p:nvPr/>
        </p:nvPicPr>
        <p:blipFill>
          <a:blip r:embed="rId2"/>
          <a:stretch>
            <a:fillRect/>
          </a:stretch>
        </p:blipFill>
        <p:spPr>
          <a:xfrm>
            <a:off x="1551293" y="997523"/>
            <a:ext cx="3001043" cy="5342083"/>
          </a:xfrm>
          <a:prstGeom prst="rect">
            <a:avLst/>
          </a:prstGeom>
        </p:spPr>
      </p:pic>
      <p:pic>
        <p:nvPicPr>
          <p:cNvPr id="7" name="Picture 6">
            <a:extLst>
              <a:ext uri="{FF2B5EF4-FFF2-40B4-BE49-F238E27FC236}">
                <a16:creationId xmlns:a16="http://schemas.microsoft.com/office/drawing/2014/main" id="{CA1845A1-7C21-35A5-099D-11464E6FF400}"/>
              </a:ext>
            </a:extLst>
          </p:cNvPr>
          <p:cNvPicPr>
            <a:picLocks noChangeAspect="1"/>
          </p:cNvPicPr>
          <p:nvPr/>
        </p:nvPicPr>
        <p:blipFill>
          <a:blip r:embed="rId3"/>
          <a:stretch>
            <a:fillRect/>
          </a:stretch>
        </p:blipFill>
        <p:spPr>
          <a:xfrm>
            <a:off x="6380146" y="5014452"/>
            <a:ext cx="1691787" cy="1177670"/>
          </a:xfrm>
          <a:prstGeom prst="rect">
            <a:avLst/>
          </a:prstGeom>
        </p:spPr>
      </p:pic>
      <p:pic>
        <p:nvPicPr>
          <p:cNvPr id="9" name="Picture 8">
            <a:extLst>
              <a:ext uri="{FF2B5EF4-FFF2-40B4-BE49-F238E27FC236}">
                <a16:creationId xmlns:a16="http://schemas.microsoft.com/office/drawing/2014/main" id="{9EB4B69F-962C-D32C-6DBD-E3DC0A1E5E14}"/>
              </a:ext>
            </a:extLst>
          </p:cNvPr>
          <p:cNvPicPr>
            <a:picLocks noChangeAspect="1"/>
          </p:cNvPicPr>
          <p:nvPr/>
        </p:nvPicPr>
        <p:blipFill>
          <a:blip r:embed="rId4"/>
          <a:stretch>
            <a:fillRect/>
          </a:stretch>
        </p:blipFill>
        <p:spPr>
          <a:xfrm>
            <a:off x="6380146" y="997522"/>
            <a:ext cx="1691787" cy="1293393"/>
          </a:xfrm>
          <a:prstGeom prst="rect">
            <a:avLst/>
          </a:prstGeom>
        </p:spPr>
      </p:pic>
      <p:pic>
        <p:nvPicPr>
          <p:cNvPr id="11" name="Picture 10">
            <a:extLst>
              <a:ext uri="{FF2B5EF4-FFF2-40B4-BE49-F238E27FC236}">
                <a16:creationId xmlns:a16="http://schemas.microsoft.com/office/drawing/2014/main" id="{CF8911D0-3660-1C97-D846-AA7AB050A6E7}"/>
              </a:ext>
            </a:extLst>
          </p:cNvPr>
          <p:cNvPicPr>
            <a:picLocks noChangeAspect="1"/>
          </p:cNvPicPr>
          <p:nvPr/>
        </p:nvPicPr>
        <p:blipFill>
          <a:blip r:embed="rId5"/>
          <a:stretch>
            <a:fillRect/>
          </a:stretch>
        </p:blipFill>
        <p:spPr>
          <a:xfrm>
            <a:off x="10024933" y="2291457"/>
            <a:ext cx="1793441" cy="2722995"/>
          </a:xfrm>
          <a:prstGeom prst="rect">
            <a:avLst/>
          </a:prstGeom>
        </p:spPr>
      </p:pic>
      <p:sp>
        <p:nvSpPr>
          <p:cNvPr id="12" name="Arrow: Bent 11">
            <a:extLst>
              <a:ext uri="{FF2B5EF4-FFF2-40B4-BE49-F238E27FC236}">
                <a16:creationId xmlns:a16="http://schemas.microsoft.com/office/drawing/2014/main" id="{66EBEC99-6CFA-BC9C-029E-D9A364640258}"/>
              </a:ext>
            </a:extLst>
          </p:cNvPr>
          <p:cNvSpPr/>
          <p:nvPr/>
        </p:nvSpPr>
        <p:spPr>
          <a:xfrm>
            <a:off x="7020232" y="4277032"/>
            <a:ext cx="3001043" cy="452284"/>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3" name="Picture 12">
            <a:extLst>
              <a:ext uri="{FF2B5EF4-FFF2-40B4-BE49-F238E27FC236}">
                <a16:creationId xmlns:a16="http://schemas.microsoft.com/office/drawing/2014/main" id="{FEAE63AC-B7FB-F3AD-5E7C-E2834EF2CB54}"/>
              </a:ext>
            </a:extLst>
          </p:cNvPr>
          <p:cNvPicPr>
            <a:picLocks noChangeAspect="1"/>
          </p:cNvPicPr>
          <p:nvPr/>
        </p:nvPicPr>
        <p:blipFill>
          <a:blip r:embed="rId6"/>
          <a:stretch>
            <a:fillRect/>
          </a:stretch>
        </p:blipFill>
        <p:spPr>
          <a:xfrm rot="10800000">
            <a:off x="4552336" y="2290428"/>
            <a:ext cx="3017782" cy="469433"/>
          </a:xfrm>
          <a:prstGeom prst="rect">
            <a:avLst/>
          </a:prstGeom>
        </p:spPr>
      </p:pic>
      <p:sp>
        <p:nvSpPr>
          <p:cNvPr id="15" name="Arrow: Right 14">
            <a:extLst>
              <a:ext uri="{FF2B5EF4-FFF2-40B4-BE49-F238E27FC236}">
                <a16:creationId xmlns:a16="http://schemas.microsoft.com/office/drawing/2014/main" id="{7A2C9A95-0177-8F4D-D7AC-69AA826ACEAB}"/>
              </a:ext>
            </a:extLst>
          </p:cNvPr>
          <p:cNvSpPr/>
          <p:nvPr/>
        </p:nvSpPr>
        <p:spPr>
          <a:xfrm>
            <a:off x="4552336" y="3254572"/>
            <a:ext cx="2320412" cy="65866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Callout: Right Arrow 13">
            <a:extLst>
              <a:ext uri="{FF2B5EF4-FFF2-40B4-BE49-F238E27FC236}">
                <a16:creationId xmlns:a16="http://schemas.microsoft.com/office/drawing/2014/main" id="{68032837-8171-151D-9EAE-5338C794DB2F}"/>
              </a:ext>
            </a:extLst>
          </p:cNvPr>
          <p:cNvSpPr/>
          <p:nvPr/>
        </p:nvSpPr>
        <p:spPr>
          <a:xfrm>
            <a:off x="6164826" y="3044997"/>
            <a:ext cx="3856449" cy="1053143"/>
          </a:xfrm>
          <a:prstGeom prst="rightArrow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200" b="1" dirty="0">
                <a:solidFill>
                  <a:srgbClr val="0070C0"/>
                </a:solidFill>
              </a:rPr>
              <a:t>PREDICTION</a:t>
            </a:r>
          </a:p>
        </p:txBody>
      </p:sp>
    </p:spTree>
    <p:extLst>
      <p:ext uri="{BB962C8B-B14F-4D97-AF65-F5344CB8AC3E}">
        <p14:creationId xmlns:p14="http://schemas.microsoft.com/office/powerpoint/2010/main" val="31512291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BFA83FA-9875-7BF4-67F5-A534DA3E3B3E}"/>
              </a:ext>
            </a:extLst>
          </p:cNvPr>
          <p:cNvPicPr>
            <a:picLocks noChangeAspect="1"/>
          </p:cNvPicPr>
          <p:nvPr/>
        </p:nvPicPr>
        <p:blipFill>
          <a:blip r:embed="rId2"/>
          <a:srcRect l="-8899" r="-2120"/>
          <a:stretch/>
        </p:blipFill>
        <p:spPr>
          <a:xfrm>
            <a:off x="-375885" y="695325"/>
            <a:ext cx="4716000" cy="2651566"/>
          </a:xfrm>
          <a:prstGeom prst="rect">
            <a:avLst/>
          </a:prstGeom>
        </p:spPr>
      </p:pic>
      <p:pic>
        <p:nvPicPr>
          <p:cNvPr id="7" name="Picture 6">
            <a:extLst>
              <a:ext uri="{FF2B5EF4-FFF2-40B4-BE49-F238E27FC236}">
                <a16:creationId xmlns:a16="http://schemas.microsoft.com/office/drawing/2014/main" id="{8412629C-7A05-A4A8-B565-E4D75BC6F892}"/>
              </a:ext>
            </a:extLst>
          </p:cNvPr>
          <p:cNvPicPr>
            <a:picLocks noChangeAspect="1"/>
          </p:cNvPicPr>
          <p:nvPr/>
        </p:nvPicPr>
        <p:blipFill>
          <a:blip r:embed="rId3"/>
          <a:stretch>
            <a:fillRect/>
          </a:stretch>
        </p:blipFill>
        <p:spPr>
          <a:xfrm>
            <a:off x="3762611" y="1040539"/>
            <a:ext cx="4392715" cy="2593195"/>
          </a:xfrm>
          <a:prstGeom prst="rect">
            <a:avLst/>
          </a:prstGeom>
        </p:spPr>
      </p:pic>
      <p:pic>
        <p:nvPicPr>
          <p:cNvPr id="10" name="Picture 9">
            <a:extLst>
              <a:ext uri="{FF2B5EF4-FFF2-40B4-BE49-F238E27FC236}">
                <a16:creationId xmlns:a16="http://schemas.microsoft.com/office/drawing/2014/main" id="{22CFBCFA-4D98-D326-8E4C-70C7C5348902}"/>
              </a:ext>
            </a:extLst>
          </p:cNvPr>
          <p:cNvPicPr>
            <a:picLocks noChangeAspect="1"/>
          </p:cNvPicPr>
          <p:nvPr/>
        </p:nvPicPr>
        <p:blipFill>
          <a:blip r:embed="rId4"/>
          <a:stretch>
            <a:fillRect/>
          </a:stretch>
        </p:blipFill>
        <p:spPr>
          <a:xfrm>
            <a:off x="8060176" y="392598"/>
            <a:ext cx="4131824" cy="3430998"/>
          </a:xfrm>
          <a:prstGeom prst="rect">
            <a:avLst/>
          </a:prstGeom>
        </p:spPr>
      </p:pic>
      <p:pic>
        <p:nvPicPr>
          <p:cNvPr id="2" name="Picture 1">
            <a:extLst>
              <a:ext uri="{FF2B5EF4-FFF2-40B4-BE49-F238E27FC236}">
                <a16:creationId xmlns:a16="http://schemas.microsoft.com/office/drawing/2014/main" id="{B24B2F43-4F24-8A57-16C8-59F0CCE7EE0C}"/>
              </a:ext>
            </a:extLst>
          </p:cNvPr>
          <p:cNvPicPr>
            <a:picLocks noChangeAspect="1"/>
          </p:cNvPicPr>
          <p:nvPr/>
        </p:nvPicPr>
        <p:blipFill>
          <a:blip r:embed="rId5"/>
          <a:stretch>
            <a:fillRect/>
          </a:stretch>
        </p:blipFill>
        <p:spPr>
          <a:xfrm>
            <a:off x="7659483" y="4026041"/>
            <a:ext cx="4532517" cy="2376601"/>
          </a:xfrm>
          <a:prstGeom prst="rect">
            <a:avLst/>
          </a:prstGeom>
        </p:spPr>
      </p:pic>
      <p:pic>
        <p:nvPicPr>
          <p:cNvPr id="4" name="Picture 3">
            <a:extLst>
              <a:ext uri="{FF2B5EF4-FFF2-40B4-BE49-F238E27FC236}">
                <a16:creationId xmlns:a16="http://schemas.microsoft.com/office/drawing/2014/main" id="{4E7D9DCF-35C5-3185-C760-DA5173D29C49}"/>
              </a:ext>
            </a:extLst>
          </p:cNvPr>
          <p:cNvPicPr>
            <a:picLocks noChangeAspect="1"/>
          </p:cNvPicPr>
          <p:nvPr/>
        </p:nvPicPr>
        <p:blipFill>
          <a:blip r:embed="rId6"/>
          <a:stretch>
            <a:fillRect/>
          </a:stretch>
        </p:blipFill>
        <p:spPr>
          <a:xfrm>
            <a:off x="3792108" y="3930338"/>
            <a:ext cx="4046127" cy="2472304"/>
          </a:xfrm>
          <a:prstGeom prst="rect">
            <a:avLst/>
          </a:prstGeom>
        </p:spPr>
      </p:pic>
      <p:pic>
        <p:nvPicPr>
          <p:cNvPr id="5" name="Picture 4">
            <a:extLst>
              <a:ext uri="{FF2B5EF4-FFF2-40B4-BE49-F238E27FC236}">
                <a16:creationId xmlns:a16="http://schemas.microsoft.com/office/drawing/2014/main" id="{7C5ECC39-AA40-267A-174F-48E3D1D8A538}"/>
              </a:ext>
            </a:extLst>
          </p:cNvPr>
          <p:cNvPicPr>
            <a:picLocks noChangeAspect="1"/>
          </p:cNvPicPr>
          <p:nvPr/>
        </p:nvPicPr>
        <p:blipFill>
          <a:blip r:embed="rId7"/>
          <a:stretch>
            <a:fillRect/>
          </a:stretch>
        </p:blipFill>
        <p:spPr>
          <a:xfrm>
            <a:off x="89110" y="3337131"/>
            <a:ext cx="3768650" cy="3065511"/>
          </a:xfrm>
          <a:prstGeom prst="rect">
            <a:avLst/>
          </a:prstGeom>
        </p:spPr>
      </p:pic>
      <p:sp>
        <p:nvSpPr>
          <p:cNvPr id="6" name="Rectangle 5">
            <a:extLst>
              <a:ext uri="{FF2B5EF4-FFF2-40B4-BE49-F238E27FC236}">
                <a16:creationId xmlns:a16="http://schemas.microsoft.com/office/drawing/2014/main" id="{E97C981B-99A1-0F5C-9A62-92980AECC98B}"/>
              </a:ext>
            </a:extLst>
          </p:cNvPr>
          <p:cNvSpPr/>
          <p:nvPr/>
        </p:nvSpPr>
        <p:spPr>
          <a:xfrm>
            <a:off x="3497709" y="-31093"/>
            <a:ext cx="4562467" cy="923330"/>
          </a:xfrm>
          <a:prstGeom prst="rect">
            <a:avLst/>
          </a:prstGeom>
          <a:solidFill>
            <a:schemeClr val="accent2">
              <a:lumMod val="20000"/>
              <a:lumOff val="80000"/>
            </a:schemeClr>
          </a:solidFill>
        </p:spPr>
        <p:txBody>
          <a:bodyPr wrap="none" lIns="91440" tIns="45720" rIns="91440" bIns="45720">
            <a:spAutoFit/>
          </a:bodyPr>
          <a:lstStyle/>
          <a:p>
            <a:pPr algn="ctr"/>
            <a:r>
              <a:rPr lang="en-US" sz="54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anose="04020705040A02060702" pitchFamily="82" charset="0"/>
              </a:rPr>
              <a:t>MODELS USED</a:t>
            </a:r>
          </a:p>
        </p:txBody>
      </p:sp>
    </p:spTree>
    <p:extLst>
      <p:ext uri="{BB962C8B-B14F-4D97-AF65-F5344CB8AC3E}">
        <p14:creationId xmlns:p14="http://schemas.microsoft.com/office/powerpoint/2010/main" val="1259346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45C3B-A651-32D2-F539-30F5D98ED5D5}"/>
              </a:ext>
            </a:extLst>
          </p:cNvPr>
          <p:cNvSpPr>
            <a:spLocks noGrp="1"/>
          </p:cNvSpPr>
          <p:nvPr>
            <p:ph type="title"/>
          </p:nvPr>
        </p:nvSpPr>
        <p:spPr/>
        <p:txBody>
          <a:bodyPr/>
          <a:lstStyle/>
          <a:p>
            <a:r>
              <a:rPr lang="en-IN" b="1" dirty="0"/>
              <a:t>RANDOM FOREST</a:t>
            </a:r>
          </a:p>
        </p:txBody>
      </p:sp>
      <p:sp>
        <p:nvSpPr>
          <p:cNvPr id="3" name="TextBox 2">
            <a:extLst>
              <a:ext uri="{FF2B5EF4-FFF2-40B4-BE49-F238E27FC236}">
                <a16:creationId xmlns:a16="http://schemas.microsoft.com/office/drawing/2014/main" id="{5A17C7A1-B5E8-4B46-74F1-D80974CA7780}"/>
              </a:ext>
            </a:extLst>
          </p:cNvPr>
          <p:cNvSpPr txBox="1"/>
          <p:nvPr/>
        </p:nvSpPr>
        <p:spPr>
          <a:xfrm>
            <a:off x="757083" y="1612491"/>
            <a:ext cx="10930521" cy="4708981"/>
          </a:xfrm>
          <a:prstGeom prst="rect">
            <a:avLst/>
          </a:prstGeom>
          <a:noFill/>
        </p:spPr>
        <p:txBody>
          <a:bodyPr wrap="square" rtlCol="0">
            <a:spAutoFit/>
          </a:bodyPr>
          <a:lstStyle/>
          <a:p>
            <a:pPr marL="285750" indent="-285750">
              <a:buFont typeface="Wingdings" panose="05000000000000000000" pitchFamily="2" charset="2"/>
              <a:buChar char="Ø"/>
            </a:pPr>
            <a:endParaRPr lang="en-US" sz="2000" dirty="0">
              <a:solidFill>
                <a:srgbClr val="006600"/>
              </a:solidFill>
              <a:latin typeface="Bahnschrift SemiBold SemiConden" panose="020B0502040204020203" pitchFamily="34" charset="0"/>
            </a:endParaRP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The random forest algorithm is a machine learning technique that uses multiple decision trees to solve problems like classification and regression</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The algorithm creates many decision trees,</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The output of the random forest is the class or value that most of the trees select.</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Random Forest is an ensemble learning algorithm that combines multiple decision trees to improve prediction accuracy. </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By generating numerous decision trees, Random Forest reduces overfitting and increases robustness. </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Each decision tree analyzes a subset of features, and the algorithm aggregates their predictions to produce a final output. </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This approach excels in handling high-dimensional data and complex interactions. </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Random Forest is used for both classification and regression tasks. It's known for its high accuracy and ability to handle complex datasets. In our model, it's used for disease classification.</a:t>
            </a:r>
          </a:p>
          <a:p>
            <a:pPr marL="285750" indent="-285750">
              <a:buFont typeface="Wingdings" panose="05000000000000000000" pitchFamily="2" charset="2"/>
              <a:buChar char="Ø"/>
            </a:pPr>
            <a:r>
              <a:rPr lang="en-US" sz="2000" b="1" dirty="0">
                <a:solidFill>
                  <a:srgbClr val="006600"/>
                </a:solidFill>
                <a:latin typeface="Bahnschrift SemiBold SemiConden" panose="020B0502040204020203" pitchFamily="34" charset="0"/>
              </a:rPr>
              <a:t>Random Forest builds multiple decision trees and combines their predictions to make a final decision. This ensemble approach reduces overfitting and improves generalization.</a:t>
            </a:r>
            <a:endParaRPr lang="en-IN" sz="2000" b="1" dirty="0">
              <a:solidFill>
                <a:srgbClr val="006600"/>
              </a:solidFill>
              <a:latin typeface="Bahnschrift SemiBold SemiConden" panose="020B0502040204020203" pitchFamily="34" charset="0"/>
            </a:endParaRPr>
          </a:p>
        </p:txBody>
      </p:sp>
    </p:spTree>
    <p:extLst>
      <p:ext uri="{BB962C8B-B14F-4D97-AF65-F5344CB8AC3E}">
        <p14:creationId xmlns:p14="http://schemas.microsoft.com/office/powerpoint/2010/main" val="2191542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FCD58-FA45-3152-AE88-58BA4991451B}"/>
              </a:ext>
            </a:extLst>
          </p:cNvPr>
          <p:cNvSpPr>
            <a:spLocks noGrp="1"/>
          </p:cNvSpPr>
          <p:nvPr>
            <p:ph type="title"/>
          </p:nvPr>
        </p:nvSpPr>
        <p:spPr/>
        <p:txBody>
          <a:bodyPr/>
          <a:lstStyle/>
          <a:p>
            <a:r>
              <a:rPr lang="en-IN" b="1" dirty="0"/>
              <a:t>LOGISTIC REGRESSION</a:t>
            </a:r>
          </a:p>
        </p:txBody>
      </p:sp>
      <p:sp>
        <p:nvSpPr>
          <p:cNvPr id="3" name="TextBox 2">
            <a:extLst>
              <a:ext uri="{FF2B5EF4-FFF2-40B4-BE49-F238E27FC236}">
                <a16:creationId xmlns:a16="http://schemas.microsoft.com/office/drawing/2014/main" id="{53AAB1E1-AD4C-1A88-8FB9-4F9D34F3A6DD}"/>
              </a:ext>
            </a:extLst>
          </p:cNvPr>
          <p:cNvSpPr txBox="1"/>
          <p:nvPr/>
        </p:nvSpPr>
        <p:spPr>
          <a:xfrm>
            <a:off x="658761" y="1927123"/>
            <a:ext cx="11208774" cy="4247317"/>
          </a:xfrm>
          <a:prstGeom prst="rect">
            <a:avLst/>
          </a:prstGeom>
          <a:noFill/>
        </p:spPr>
        <p:txBody>
          <a:bodyPr wrap="square" rtlCol="0">
            <a:spAutoFit/>
          </a:bodyPr>
          <a:lstStyle/>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Logistic Regression is used for binary classification, which means predicting one of two possible outcomes. In this case, it's used to predict whether a patient is "Healthy" or has a "Disease" (which is a combined category for various diseases in our dataset).</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Logistic Regression estimates the probability of an instance belonging to a particular class.</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Logistic Regression is a supervised learning algorithm used for binary classification problems, predicting the probability of an event occurring. </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It models the probability of an event based on one or more predictor variables using a logistic function, mapping probabilities between 0 and 1. </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The algorithm provides interpretable results, including odds ratios and coefficients that represent the change in log odds for a one-unit change in the predictor variable. </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Logistic Regression has various applications, including credit risk assessment, medical diagnosis, and customer churn prediction. </a:t>
            </a:r>
          </a:p>
          <a:p>
            <a:pPr marL="285750" indent="-285750">
              <a:buFont typeface="Wingdings" panose="05000000000000000000" pitchFamily="2" charset="2"/>
              <a:buChar char="Ø"/>
            </a:pPr>
            <a:r>
              <a:rPr lang="en-US" dirty="0">
                <a:solidFill>
                  <a:srgbClr val="006600"/>
                </a:solidFill>
                <a:latin typeface="Bahnschrift SemiBold SemiConden" panose="020B0502040204020203" pitchFamily="34" charset="0"/>
              </a:rPr>
              <a:t>Its advantages include handling categorical variables, binary classification, and providing interpretable results. Common evaluation metrics for Logistic Regression include accuracy, precision, recall, F1-score, and Area Under the Receiver Operating Characteristic Curve (AUC-ROC). </a:t>
            </a:r>
            <a:endParaRPr lang="en-IN" dirty="0">
              <a:solidFill>
                <a:srgbClr val="006600"/>
              </a:solidFill>
              <a:latin typeface="Bahnschrift SemiBold SemiConden" panose="020B0502040204020203" pitchFamily="34" charset="0"/>
            </a:endParaRPr>
          </a:p>
        </p:txBody>
      </p:sp>
    </p:spTree>
    <p:extLst>
      <p:ext uri="{BB962C8B-B14F-4D97-AF65-F5344CB8AC3E}">
        <p14:creationId xmlns:p14="http://schemas.microsoft.com/office/powerpoint/2010/main" val="194808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6527-606B-A8C5-DE7B-1806F1B05E5B}"/>
              </a:ext>
            </a:extLst>
          </p:cNvPr>
          <p:cNvSpPr>
            <a:spLocks noGrp="1"/>
          </p:cNvSpPr>
          <p:nvPr>
            <p:ph type="title"/>
          </p:nvPr>
        </p:nvSpPr>
        <p:spPr/>
        <p:txBody>
          <a:bodyPr/>
          <a:lstStyle/>
          <a:p>
            <a:r>
              <a:rPr lang="en-IN" b="1" dirty="0"/>
              <a:t>NAÏVE BAYES</a:t>
            </a:r>
          </a:p>
        </p:txBody>
      </p:sp>
      <p:sp>
        <p:nvSpPr>
          <p:cNvPr id="3" name="TextBox 2">
            <a:extLst>
              <a:ext uri="{FF2B5EF4-FFF2-40B4-BE49-F238E27FC236}">
                <a16:creationId xmlns:a16="http://schemas.microsoft.com/office/drawing/2014/main" id="{086D3200-73C4-480B-7342-5476DC671D50}"/>
              </a:ext>
            </a:extLst>
          </p:cNvPr>
          <p:cNvSpPr txBox="1"/>
          <p:nvPr/>
        </p:nvSpPr>
        <p:spPr>
          <a:xfrm>
            <a:off x="639096" y="1923971"/>
            <a:ext cx="11385755" cy="4647426"/>
          </a:xfrm>
          <a:prstGeom prst="rect">
            <a:avLst/>
          </a:prstGeom>
          <a:noFill/>
        </p:spPr>
        <p:txBody>
          <a:bodyPr wrap="square" rtlCol="0">
            <a:spAutoFit/>
          </a:bodyPr>
          <a:lstStyle/>
          <a:p>
            <a:pPr marL="285750" indent="-285750">
              <a:buFont typeface="Wingdings" panose="05000000000000000000" pitchFamily="2" charset="2"/>
              <a:buChar char="Ø"/>
            </a:pPr>
            <a:r>
              <a:rPr lang="en-IN" sz="2000" dirty="0">
                <a:solidFill>
                  <a:srgbClr val="002060"/>
                </a:solidFill>
                <a:latin typeface="Bahnschrift SemiBold SemiConden" panose="020B0502040204020203" pitchFamily="34" charset="0"/>
              </a:rPr>
              <a:t>Naive Bayes is a supervised learning algorithm used for classification problems, leveraging Bayes' theorem to predict probabilities. </a:t>
            </a:r>
          </a:p>
          <a:p>
            <a:pPr marL="285750" indent="-285750">
              <a:buFont typeface="Wingdings" panose="05000000000000000000" pitchFamily="2" charset="2"/>
              <a:buChar char="Ø"/>
            </a:pPr>
            <a:r>
              <a:rPr lang="en-IN" sz="2000" dirty="0">
                <a:solidFill>
                  <a:srgbClr val="002060"/>
                </a:solidFill>
                <a:latin typeface="Bahnschrift SemiBold SemiConden" panose="020B0502040204020203" pitchFamily="34" charset="0"/>
              </a:rPr>
              <a:t>It assumes independence between features, simplifying calculations and improving scalability. </a:t>
            </a:r>
          </a:p>
          <a:p>
            <a:pPr marL="285750" indent="-285750">
              <a:buFont typeface="Wingdings" panose="05000000000000000000" pitchFamily="2" charset="2"/>
              <a:buChar char="Ø"/>
            </a:pPr>
            <a:r>
              <a:rPr lang="en-IN" sz="2000" dirty="0">
                <a:solidFill>
                  <a:srgbClr val="002060"/>
                </a:solidFill>
                <a:latin typeface="Bahnschrift SemiBold SemiConden" panose="020B0502040204020203" pitchFamily="34" charset="0"/>
              </a:rPr>
              <a:t>Naive Bayes excels in handling high-dimensional data and categorical variables. The algorithm calculates posterior probabilities by multiplying prior probabilities and likelihoods. </a:t>
            </a:r>
          </a:p>
          <a:p>
            <a:pPr marL="285750" indent="-285750">
              <a:buFont typeface="Wingdings" panose="05000000000000000000" pitchFamily="2" charset="2"/>
              <a:buChar char="Ø"/>
            </a:pPr>
            <a:r>
              <a:rPr lang="en-IN" sz="2000" dirty="0">
                <a:solidFill>
                  <a:srgbClr val="002060"/>
                </a:solidFill>
                <a:latin typeface="Bahnschrift SemiBold SemiConden" panose="020B0502040204020203" pitchFamily="34" charset="0"/>
              </a:rPr>
              <a:t>Naive Bayes has three main types: Multinomial Naive Bayes for multi class problems, Bernoulli Naive Bayes for binary features, and Gaussian Naive Bayes for continuous features. </a:t>
            </a:r>
          </a:p>
          <a:p>
            <a:pPr marL="285750" indent="-285750">
              <a:buFont typeface="Wingdings" panose="05000000000000000000" pitchFamily="2" charset="2"/>
              <a:buChar char="Ø"/>
            </a:pPr>
            <a:r>
              <a:rPr lang="en-US" sz="2000" dirty="0">
                <a:solidFill>
                  <a:srgbClr val="002060"/>
                </a:solidFill>
                <a:latin typeface="Bahnschrift SemiBold SemiConden" panose="020B0502040204020203" pitchFamily="34" charset="0"/>
              </a:rPr>
              <a:t>Naive Bayes is useful in dependent events in terms of conditional Probability.</a:t>
            </a:r>
            <a:endParaRPr lang="en-IN" sz="2000" dirty="0">
              <a:solidFill>
                <a:srgbClr val="002060"/>
              </a:solidFill>
              <a:latin typeface="Bahnschrift SemiBold SemiConden" panose="020B0502040204020203" pitchFamily="34" charset="0"/>
            </a:endParaRPr>
          </a:p>
          <a:p>
            <a:pPr marL="285750" indent="-285750">
              <a:buFont typeface="Wingdings" panose="05000000000000000000" pitchFamily="2" charset="2"/>
              <a:buChar char="Ø"/>
            </a:pPr>
            <a:r>
              <a:rPr lang="en-US" sz="2000" dirty="0">
                <a:solidFill>
                  <a:srgbClr val="002060"/>
                </a:solidFill>
                <a:latin typeface="Bahnschrift SemiBold SemiConden" panose="020B0502040204020203" pitchFamily="34" charset="0"/>
              </a:rPr>
              <a:t>It is actually the Bayes theorem that determines the Multiplication of dependent Events.</a:t>
            </a:r>
          </a:p>
          <a:p>
            <a:pPr marL="285750" indent="-285750" algn="just">
              <a:buFont typeface="Wingdings" panose="05000000000000000000" pitchFamily="2" charset="2"/>
              <a:buChar char="Ø"/>
            </a:pPr>
            <a:r>
              <a:rPr lang="en-US" sz="2000" b="0" i="0" dirty="0">
                <a:solidFill>
                  <a:srgbClr val="002060"/>
                </a:solidFill>
                <a:effectLst/>
                <a:latin typeface="Bahnschrift SemiBold SemiConden" panose="020B0502040204020203" pitchFamily="34" charset="0"/>
              </a:rPr>
              <a:t> It is called Naïve because it assumes that the occurrence of a certain feature is independent of the occurrence of other features. Such as if the fruit is identified on the bases of color, shape, and taste, then red, spherical, and sweet fruit is recognized as an apple. Hence each feature individually contributes to identify that it is an apple without depending on each other.</a:t>
            </a:r>
          </a:p>
          <a:p>
            <a:pPr marL="285750" indent="-285750" algn="just">
              <a:buFont typeface="Wingdings" panose="05000000000000000000" pitchFamily="2" charset="2"/>
              <a:buChar char="Ø"/>
            </a:pPr>
            <a:r>
              <a:rPr lang="en-US" sz="2000" b="0" i="0" dirty="0">
                <a:solidFill>
                  <a:srgbClr val="002060"/>
                </a:solidFill>
                <a:effectLst/>
                <a:latin typeface="Bahnschrift SemiBold SemiConden" panose="020B0502040204020203" pitchFamily="34" charset="0"/>
              </a:rPr>
              <a:t> It is called Bayes because it depends on the principle of </a:t>
            </a:r>
            <a:r>
              <a:rPr lang="en-US" sz="2000" dirty="0">
                <a:solidFill>
                  <a:srgbClr val="006600"/>
                </a:solidFill>
                <a:latin typeface="Bahnschrift SemiBold SemiConden" panose="020B0502040204020203" pitchFamily="34" charset="0"/>
              </a:rPr>
              <a:t>Bayes Theorem</a:t>
            </a:r>
            <a:r>
              <a:rPr lang="en-US" sz="2000" b="0" i="0" dirty="0">
                <a:solidFill>
                  <a:srgbClr val="006600"/>
                </a:solidFill>
                <a:effectLst/>
                <a:latin typeface="Bahnschrift SemiBold SemiConden" panose="020B0502040204020203" pitchFamily="34" charset="0"/>
              </a:rPr>
              <a:t>.</a:t>
            </a:r>
          </a:p>
          <a:p>
            <a:pPr marL="285750" indent="-285750">
              <a:buFont typeface="Wingdings" panose="05000000000000000000" pitchFamily="2" charset="2"/>
              <a:buChar char="Ø"/>
            </a:pPr>
            <a:endParaRPr lang="en-IN" dirty="0"/>
          </a:p>
        </p:txBody>
      </p:sp>
    </p:spTree>
    <p:extLst>
      <p:ext uri="{BB962C8B-B14F-4D97-AF65-F5344CB8AC3E}">
        <p14:creationId xmlns:p14="http://schemas.microsoft.com/office/powerpoint/2010/main" val="956665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26113-BB8E-2E30-FCF8-FBF6C4E80632}"/>
              </a:ext>
            </a:extLst>
          </p:cNvPr>
          <p:cNvSpPr>
            <a:spLocks noGrp="1"/>
          </p:cNvSpPr>
          <p:nvPr>
            <p:ph type="title"/>
          </p:nvPr>
        </p:nvSpPr>
        <p:spPr/>
        <p:txBody>
          <a:bodyPr/>
          <a:lstStyle/>
          <a:p>
            <a:r>
              <a:rPr lang="en-IN" b="1" dirty="0"/>
              <a:t>KNN</a:t>
            </a:r>
          </a:p>
        </p:txBody>
      </p:sp>
      <p:sp>
        <p:nvSpPr>
          <p:cNvPr id="3" name="TextBox 2">
            <a:extLst>
              <a:ext uri="{FF2B5EF4-FFF2-40B4-BE49-F238E27FC236}">
                <a16:creationId xmlns:a16="http://schemas.microsoft.com/office/drawing/2014/main" id="{F957464D-A1EF-58F8-FDD6-E1DA7F73F63D}"/>
              </a:ext>
            </a:extLst>
          </p:cNvPr>
          <p:cNvSpPr txBox="1"/>
          <p:nvPr/>
        </p:nvSpPr>
        <p:spPr>
          <a:xfrm>
            <a:off x="196645" y="1848465"/>
            <a:ext cx="11562736" cy="4950073"/>
          </a:xfrm>
          <a:prstGeom prst="rect">
            <a:avLst/>
          </a:prstGeom>
          <a:noFill/>
        </p:spPr>
        <p:txBody>
          <a:bodyPr wrap="square" rtlCol="0">
            <a:spAutoFit/>
          </a:bodyPr>
          <a:lstStyle/>
          <a:p>
            <a:pPr marL="285750" indent="-285750">
              <a:buFont typeface="Wingdings" panose="05000000000000000000" pitchFamily="2" charset="2"/>
              <a:buChar char="Ø"/>
            </a:pPr>
            <a:r>
              <a:rPr lang="en-US" sz="1700" dirty="0">
                <a:latin typeface="Bahnschrift SemiBold SemiConden" panose="020B0502040204020203" pitchFamily="34" charset="0"/>
              </a:rPr>
              <a:t>KNN is used for classification and regression. It's a non-parametric algorithm, meaning it doesn't make assumptions about the underlying data distribution. In our model, it's used for disease classification.</a:t>
            </a:r>
          </a:p>
          <a:p>
            <a:pPr marL="285750" indent="-285750">
              <a:buFont typeface="Wingdings" panose="05000000000000000000" pitchFamily="2" charset="2"/>
              <a:buChar char="Ø"/>
            </a:pPr>
            <a:r>
              <a:rPr lang="en-US" sz="1700" dirty="0">
                <a:latin typeface="Bahnschrift SemiBold SemiConden" panose="020B0502040204020203" pitchFamily="34" charset="0"/>
              </a:rPr>
              <a:t>KNN classifies an instance based on the classes of its nearest neighbors in the feature space. The number of neighbors to consider is determined by the 'k' value.4. Decision Tree</a:t>
            </a:r>
          </a:p>
          <a:p>
            <a:pPr marL="285750" indent="-285750">
              <a:buFont typeface="Wingdings" panose="05000000000000000000" pitchFamily="2" charset="2"/>
              <a:buChar char="Ø"/>
            </a:pPr>
            <a:r>
              <a:rPr lang="en-US" sz="1700" dirty="0">
                <a:latin typeface="Bahnschrift SemiBold SemiConden" panose="020B0502040204020203" pitchFamily="34" charset="0"/>
              </a:rPr>
              <a:t>The k-nearest neighbors (KNN) algorithm is a non-parametric, supervised learning classifier, which uses proximity to make classifications or predictions about the grouping of an individual data point. </a:t>
            </a:r>
          </a:p>
          <a:p>
            <a:pPr marL="285750" indent="-285750">
              <a:buFont typeface="Wingdings" panose="05000000000000000000" pitchFamily="2" charset="2"/>
              <a:buChar char="Ø"/>
            </a:pPr>
            <a:r>
              <a:rPr lang="en-US" sz="1700" dirty="0">
                <a:latin typeface="Bahnschrift SemiBold SemiConden" panose="020B0502040204020203" pitchFamily="34" charset="0"/>
              </a:rPr>
              <a:t>It is one of the popular and simplest classification and regression classifiers used in machine learning today</a:t>
            </a:r>
          </a:p>
          <a:p>
            <a:pPr marL="285750" indent="-285750">
              <a:buFont typeface="Wingdings" panose="05000000000000000000" pitchFamily="2" charset="2"/>
              <a:buChar char="Ø"/>
            </a:pPr>
            <a:r>
              <a:rPr lang="en-US" sz="1700" dirty="0">
                <a:latin typeface="Bahnschrift SemiBold SemiConden" panose="020B0502040204020203" pitchFamily="34" charset="0"/>
              </a:rPr>
              <a:t>KNN (k-nearest neighbors) is known as a "lazy learning" technique because it does not explicitly learn a model from the training data. </a:t>
            </a:r>
          </a:p>
          <a:p>
            <a:pPr marL="285750" indent="-285750">
              <a:buFont typeface="Wingdings" panose="05000000000000000000" pitchFamily="2" charset="2"/>
              <a:buChar char="Ø"/>
            </a:pPr>
            <a:r>
              <a:rPr lang="en-US" sz="1700" dirty="0">
                <a:latin typeface="Bahnschrift SemiBold SemiConden" panose="020B0502040204020203" pitchFamily="34" charset="0"/>
              </a:rPr>
              <a:t>Instead, it stores the entire training dataset and waits until a new data point is presented for classification or regression.</a:t>
            </a:r>
          </a:p>
          <a:p>
            <a:pPr marL="285750" indent="-285750" algn="l" rtl="0" fontAlgn="base">
              <a:spcAft>
                <a:spcPts val="750"/>
              </a:spcAft>
              <a:buFont typeface="Wingdings" panose="05000000000000000000" pitchFamily="2" charset="2"/>
              <a:buChar char="Ø"/>
            </a:pPr>
            <a:r>
              <a:rPr lang="en-US" sz="1700" b="0" i="0" dirty="0">
                <a:effectLst/>
                <a:latin typeface="Bahnschrift SemiBold SemiConden" panose="020B0502040204020203" pitchFamily="34" charset="0"/>
              </a:rPr>
              <a:t>KNN is one of the most basic yet essential classification algorithms in machine learning. </a:t>
            </a:r>
          </a:p>
          <a:p>
            <a:pPr marL="285750" indent="-285750" algn="l" rtl="0" fontAlgn="base">
              <a:spcAft>
                <a:spcPts val="750"/>
              </a:spcAft>
              <a:buFont typeface="Wingdings" panose="05000000000000000000" pitchFamily="2" charset="2"/>
              <a:buChar char="Ø"/>
            </a:pPr>
            <a:r>
              <a:rPr lang="en-US" sz="1700" b="0" i="0" dirty="0">
                <a:effectLst/>
                <a:latin typeface="Bahnschrift SemiBold SemiConden" panose="020B0502040204020203" pitchFamily="34" charset="0"/>
              </a:rPr>
              <a:t>It belongs to the </a:t>
            </a:r>
            <a:r>
              <a:rPr lang="en-US" sz="1700" b="0" i="0" u="sng" dirty="0">
                <a:effectLst/>
                <a:latin typeface="Bahnschrift SemiBold SemiConden" panose="020B0502040204020203" pitchFamily="34" charset="0"/>
                <a:hlinkClick r:id="rId2">
                  <a:extLst>
                    <a:ext uri="{A12FA001-AC4F-418D-AE19-62706E023703}">
                      <ahyp:hlinkClr xmlns:ahyp="http://schemas.microsoft.com/office/drawing/2018/hyperlinkcolor" val="tx"/>
                    </a:ext>
                  </a:extLst>
                </a:hlinkClick>
              </a:rPr>
              <a:t>supervised learning</a:t>
            </a:r>
            <a:r>
              <a:rPr lang="en-US" sz="1700" b="0" i="0" dirty="0">
                <a:effectLst/>
                <a:latin typeface="Bahnschrift SemiBold SemiConden" panose="020B0502040204020203" pitchFamily="34" charset="0"/>
              </a:rPr>
              <a:t> domain and finds intense application in pattern recognition, </a:t>
            </a:r>
            <a:r>
              <a:rPr lang="en-US" sz="1700" b="0" i="0" u="sng" dirty="0">
                <a:effectLst/>
                <a:latin typeface="Bahnschrift SemiBold SemiConden" panose="020B0502040204020203" pitchFamily="34" charset="0"/>
                <a:hlinkClick r:id="rId3">
                  <a:extLst>
                    <a:ext uri="{A12FA001-AC4F-418D-AE19-62706E023703}">
                      <ahyp:hlinkClr xmlns:ahyp="http://schemas.microsoft.com/office/drawing/2018/hyperlinkcolor" val="tx"/>
                    </a:ext>
                  </a:extLst>
                </a:hlinkClick>
              </a:rPr>
              <a:t>data mining</a:t>
            </a:r>
            <a:r>
              <a:rPr lang="en-US" sz="1700" b="0" i="0" dirty="0">
                <a:effectLst/>
                <a:latin typeface="Bahnschrift SemiBold SemiConden" panose="020B0502040204020203" pitchFamily="34" charset="0"/>
              </a:rPr>
              <a:t>, and intrusion detection.</a:t>
            </a:r>
          </a:p>
          <a:p>
            <a:pPr marL="285750" indent="-285750" algn="l" rtl="0" fontAlgn="base">
              <a:spcAft>
                <a:spcPts val="750"/>
              </a:spcAft>
              <a:buFont typeface="Wingdings" panose="05000000000000000000" pitchFamily="2" charset="2"/>
              <a:buChar char="Ø"/>
            </a:pPr>
            <a:r>
              <a:rPr lang="en-US" sz="1700" b="0" i="0" dirty="0">
                <a:effectLst/>
                <a:latin typeface="Bahnschrift SemiBold SemiConden" panose="020B0502040204020203" pitchFamily="34" charset="0"/>
              </a:rPr>
              <a:t>It is widely disposable in real-life scenarios since it is non-parametric, meaning it does not make any underlying assumptions about the distribution of data (as opposed to other algorithms such as GMM, which assume a </a:t>
            </a:r>
            <a:r>
              <a:rPr lang="en-US" sz="1700" b="0" i="0" u="sng" dirty="0">
                <a:effectLst/>
                <a:latin typeface="Bahnschrift SemiBold SemiConden" panose="020B0502040204020203" pitchFamily="34" charset="0"/>
                <a:hlinkClick r:id="rId4">
                  <a:extLst>
                    <a:ext uri="{A12FA001-AC4F-418D-AE19-62706E023703}">
                      <ahyp:hlinkClr xmlns:ahyp="http://schemas.microsoft.com/office/drawing/2018/hyperlinkcolor" val="tx"/>
                    </a:ext>
                  </a:extLst>
                </a:hlinkClick>
              </a:rPr>
              <a:t>Gaussian distribution</a:t>
            </a:r>
            <a:r>
              <a:rPr lang="en-US" sz="1700" b="0" i="0" dirty="0">
                <a:effectLst/>
                <a:latin typeface="Bahnschrift SemiBold SemiConden" panose="020B0502040204020203" pitchFamily="34" charset="0"/>
              </a:rPr>
              <a:t> of the given data). </a:t>
            </a:r>
          </a:p>
          <a:p>
            <a:pPr marL="285750" indent="-285750" algn="l" rtl="0" fontAlgn="base">
              <a:spcAft>
                <a:spcPts val="750"/>
              </a:spcAft>
              <a:buFont typeface="Wingdings" panose="05000000000000000000" pitchFamily="2" charset="2"/>
              <a:buChar char="Ø"/>
            </a:pPr>
            <a:r>
              <a:rPr lang="en-US" sz="1700" b="0" i="0" dirty="0">
                <a:effectLst/>
                <a:latin typeface="Bahnschrift SemiBold SemiConden" panose="020B0502040204020203" pitchFamily="34" charset="0"/>
              </a:rPr>
              <a:t>We are given some prior data (also called training data), which classifies coordinates into groups identified by an attribute.</a:t>
            </a:r>
          </a:p>
          <a:p>
            <a:pPr marL="285750" indent="-285750">
              <a:buFont typeface="Wingdings" panose="05000000000000000000" pitchFamily="2" charset="2"/>
              <a:buChar char="Ø"/>
            </a:pPr>
            <a:endParaRPr lang="en-IN" sz="1700" dirty="0"/>
          </a:p>
        </p:txBody>
      </p:sp>
    </p:spTree>
    <p:extLst>
      <p:ext uri="{BB962C8B-B14F-4D97-AF65-F5344CB8AC3E}">
        <p14:creationId xmlns:p14="http://schemas.microsoft.com/office/powerpoint/2010/main" val="5913095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31AD2-5674-2B15-78FB-B7DEBAEBAB1D}"/>
              </a:ext>
            </a:extLst>
          </p:cNvPr>
          <p:cNvSpPr>
            <a:spLocks noGrp="1"/>
          </p:cNvSpPr>
          <p:nvPr>
            <p:ph type="title"/>
          </p:nvPr>
        </p:nvSpPr>
        <p:spPr/>
        <p:txBody>
          <a:bodyPr/>
          <a:lstStyle/>
          <a:p>
            <a:r>
              <a:rPr lang="en-IN" b="1" dirty="0"/>
              <a:t>DECISION TREE</a:t>
            </a:r>
          </a:p>
        </p:txBody>
      </p:sp>
      <p:sp>
        <p:nvSpPr>
          <p:cNvPr id="3" name="TextBox 2">
            <a:extLst>
              <a:ext uri="{FF2B5EF4-FFF2-40B4-BE49-F238E27FC236}">
                <a16:creationId xmlns:a16="http://schemas.microsoft.com/office/drawing/2014/main" id="{32FE2442-7D50-BAE2-3C19-5A011BB2B7A7}"/>
              </a:ext>
            </a:extLst>
          </p:cNvPr>
          <p:cNvSpPr txBox="1"/>
          <p:nvPr/>
        </p:nvSpPr>
        <p:spPr>
          <a:xfrm>
            <a:off x="973394" y="2172928"/>
            <a:ext cx="10508717" cy="3477875"/>
          </a:xfrm>
          <a:prstGeom prst="rect">
            <a:avLst/>
          </a:prstGeom>
          <a:noFill/>
        </p:spPr>
        <p:txBody>
          <a:bodyPr wrap="square" rtlCol="0">
            <a:spAutoFit/>
          </a:bodyPr>
          <a:lstStyle/>
          <a:p>
            <a:pPr marL="285750" indent="-285750">
              <a:buFont typeface="Wingdings" panose="05000000000000000000" pitchFamily="2" charset="2"/>
              <a:buChar char="Ø"/>
            </a:pPr>
            <a:r>
              <a:rPr lang="en-US" sz="2200" dirty="0"/>
              <a:t> </a:t>
            </a:r>
            <a:r>
              <a:rPr lang="en-US" sz="2200" dirty="0">
                <a:latin typeface="Bahnschrift SemiBold SemiConden" panose="020B0502040204020203" pitchFamily="34" charset="0"/>
              </a:rPr>
              <a:t>Decision Trees are used for classification and regression. </a:t>
            </a:r>
          </a:p>
          <a:p>
            <a:pPr marL="285750" indent="-285750">
              <a:buFont typeface="Wingdings" panose="05000000000000000000" pitchFamily="2" charset="2"/>
              <a:buChar char="Ø"/>
            </a:pPr>
            <a:r>
              <a:rPr lang="en-US" sz="2200" dirty="0">
                <a:latin typeface="Bahnschrift SemiBold SemiConden" panose="020B0502040204020203" pitchFamily="34" charset="0"/>
              </a:rPr>
              <a:t>They are easy to interpret and visualize. In our model, it's used for disease classification.</a:t>
            </a:r>
          </a:p>
          <a:p>
            <a:pPr marL="285750" indent="-285750">
              <a:buFont typeface="Wingdings" panose="05000000000000000000" pitchFamily="2" charset="2"/>
              <a:buChar char="Ø"/>
            </a:pPr>
            <a:r>
              <a:rPr lang="en-US" sz="2200" dirty="0">
                <a:latin typeface="Bahnschrift SemiBold SemiConden" panose="020B0502040204020203" pitchFamily="34" charset="0"/>
              </a:rPr>
              <a:t>Decision Trees create a tree-like structure to make decisions based on a series of rules inferred from the features.</a:t>
            </a:r>
          </a:p>
          <a:p>
            <a:pPr marL="285750" indent="-285750">
              <a:buFont typeface="Wingdings" panose="05000000000000000000" pitchFamily="2" charset="2"/>
              <a:buChar char="Ø"/>
            </a:pPr>
            <a:r>
              <a:rPr lang="en-US" sz="2200" dirty="0">
                <a:latin typeface="Bahnschrift SemiBold SemiConden" panose="020B0502040204020203" pitchFamily="34" charset="0"/>
              </a:rPr>
              <a:t> Each node represents a feature, and branches represent possible values of that feature.</a:t>
            </a:r>
          </a:p>
          <a:p>
            <a:pPr marL="285750" indent="-285750">
              <a:buFont typeface="Wingdings" panose="05000000000000000000" pitchFamily="2" charset="2"/>
              <a:buChar char="Ø"/>
            </a:pPr>
            <a:r>
              <a:rPr lang="en-US" sz="2200" b="0" i="0" dirty="0">
                <a:effectLst/>
                <a:latin typeface="Bahnschrift SemiBold SemiConden" panose="020B0502040204020203" pitchFamily="34" charset="0"/>
              </a:rPr>
              <a:t>A </a:t>
            </a:r>
            <a:r>
              <a:rPr lang="en-US" sz="2200" b="1" i="0" dirty="0">
                <a:effectLst/>
                <a:latin typeface="Bahnschrift SemiBold SemiConden" panose="020B0502040204020203" pitchFamily="34" charset="0"/>
              </a:rPr>
              <a:t>decision tree </a:t>
            </a:r>
            <a:r>
              <a:rPr lang="en-US" sz="2200" b="0" i="0" dirty="0">
                <a:effectLst/>
                <a:latin typeface="Bahnschrift SemiBold SemiConden" panose="020B0502040204020203" pitchFamily="34" charset="0"/>
              </a:rPr>
              <a:t>is a flowchart-like structure used to make decisions or predictions. </a:t>
            </a:r>
          </a:p>
          <a:p>
            <a:pPr marL="285750" indent="-285750">
              <a:buFont typeface="Wingdings" panose="05000000000000000000" pitchFamily="2" charset="2"/>
              <a:buChar char="Ø"/>
            </a:pPr>
            <a:r>
              <a:rPr lang="en-US" sz="2200" b="0" i="0" dirty="0">
                <a:effectLst/>
                <a:latin typeface="Bahnschrift SemiBold SemiConden" panose="020B0502040204020203" pitchFamily="34" charset="0"/>
              </a:rPr>
              <a:t>It consists of nodes representing decisions or tests on attributes, branches representing the outcome of these decisions, and leaf nodes representing final outcomes or predictions. </a:t>
            </a:r>
          </a:p>
          <a:p>
            <a:pPr marL="285750" indent="-285750">
              <a:buFont typeface="Wingdings" panose="05000000000000000000" pitchFamily="2" charset="2"/>
              <a:buChar char="Ø"/>
            </a:pPr>
            <a:r>
              <a:rPr lang="en-US" sz="2200" b="0" i="0" dirty="0">
                <a:effectLst/>
                <a:latin typeface="Bahnschrift SemiBold SemiConden" panose="020B0502040204020203" pitchFamily="34" charset="0"/>
              </a:rPr>
              <a:t>Each internal node corresponds to a test on an attribute, each branch corresponds to the result of the test, and each leaf node corresponds to a class label or a continuous value.</a:t>
            </a:r>
            <a:endParaRPr lang="en-IN" sz="2200" dirty="0">
              <a:latin typeface="Bahnschrift SemiBold SemiConden" panose="020B0502040204020203" pitchFamily="34" charset="0"/>
            </a:endParaRPr>
          </a:p>
        </p:txBody>
      </p:sp>
    </p:spTree>
    <p:extLst>
      <p:ext uri="{BB962C8B-B14F-4D97-AF65-F5344CB8AC3E}">
        <p14:creationId xmlns:p14="http://schemas.microsoft.com/office/powerpoint/2010/main" val="1539114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14000">
              <a:srgbClr val="99FFCC"/>
            </a:gs>
            <a:gs pos="37000">
              <a:srgbClr val="FFCCCC"/>
            </a:gs>
            <a:gs pos="74000">
              <a:schemeClr val="accent1">
                <a:lumMod val="45000"/>
                <a:lumOff val="55000"/>
              </a:schemeClr>
            </a:gs>
            <a:gs pos="9000">
              <a:srgbClr val="9999FF">
                <a:alpha val="77000"/>
              </a:srgb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43B1C-8665-7175-05F1-F89AD60F046F}"/>
              </a:ext>
            </a:extLst>
          </p:cNvPr>
          <p:cNvSpPr>
            <a:spLocks noGrp="1"/>
          </p:cNvSpPr>
          <p:nvPr>
            <p:ph type="title"/>
          </p:nvPr>
        </p:nvSpPr>
        <p:spPr/>
        <p:txBody>
          <a:bodyPr/>
          <a:lstStyle/>
          <a:p>
            <a:r>
              <a:rPr lang="en-IN" b="1" dirty="0"/>
              <a:t>SVM</a:t>
            </a:r>
          </a:p>
        </p:txBody>
      </p:sp>
      <p:sp>
        <p:nvSpPr>
          <p:cNvPr id="3" name="TextBox 2">
            <a:extLst>
              <a:ext uri="{FF2B5EF4-FFF2-40B4-BE49-F238E27FC236}">
                <a16:creationId xmlns:a16="http://schemas.microsoft.com/office/drawing/2014/main" id="{A6291054-ED3D-2C26-FEAE-5BC8B3487DAD}"/>
              </a:ext>
            </a:extLst>
          </p:cNvPr>
          <p:cNvSpPr txBox="1"/>
          <p:nvPr/>
        </p:nvSpPr>
        <p:spPr>
          <a:xfrm>
            <a:off x="766916" y="1946787"/>
            <a:ext cx="11228439" cy="3477875"/>
          </a:xfrm>
          <a:prstGeom prst="rect">
            <a:avLst/>
          </a:prstGeom>
          <a:noFill/>
        </p:spPr>
        <p:txBody>
          <a:bodyPr wrap="square" rtlCol="0">
            <a:spAutoFit/>
          </a:bodyPr>
          <a:lstStyle/>
          <a:p>
            <a:pPr marL="285750" indent="-285750">
              <a:buFont typeface="Wingdings" panose="05000000000000000000" pitchFamily="2" charset="2"/>
              <a:buChar char="Ø"/>
            </a:pPr>
            <a:r>
              <a:rPr lang="en-IN" sz="2000" dirty="0">
                <a:latin typeface="Bahnschrift SemiBold SemiConden" panose="020B0502040204020203" pitchFamily="34" charset="0"/>
              </a:rPr>
              <a:t>Support Vector Machines (SVM) are supervised learning algorithms that optimize hyperplanes to separate classes. </a:t>
            </a:r>
          </a:p>
          <a:p>
            <a:pPr marL="285750" indent="-285750">
              <a:buFont typeface="Wingdings" panose="05000000000000000000" pitchFamily="2" charset="2"/>
              <a:buChar char="Ø"/>
            </a:pPr>
            <a:r>
              <a:rPr lang="en-IN" sz="2000" dirty="0">
                <a:latin typeface="Bahnschrift SemiBold SemiConden" panose="020B0502040204020203" pitchFamily="34" charset="0"/>
              </a:rPr>
              <a:t>SVM finds the optimal boundary between classes by maximizing the margin, or distance, between support vectors. </a:t>
            </a:r>
          </a:p>
          <a:p>
            <a:pPr marL="285750" indent="-285750">
              <a:buFont typeface="Wingdings" panose="05000000000000000000" pitchFamily="2" charset="2"/>
              <a:buChar char="Ø"/>
            </a:pPr>
            <a:r>
              <a:rPr lang="en-IN" sz="2000" dirty="0">
                <a:latin typeface="Bahnschrift SemiBold SemiConden" panose="020B0502040204020203" pitchFamily="34" charset="0"/>
              </a:rPr>
              <a:t>This algorithm excels in handling non-linear relationships and high-dimensional data. </a:t>
            </a:r>
          </a:p>
          <a:p>
            <a:pPr marL="285750" indent="-285750">
              <a:buFont typeface="Wingdings" panose="05000000000000000000" pitchFamily="2" charset="2"/>
              <a:buChar char="Ø"/>
            </a:pPr>
            <a:r>
              <a:rPr lang="en-IN" sz="2000" dirty="0">
                <a:latin typeface="Bahnschrift SemiBold SemiConden" panose="020B0502040204020203" pitchFamily="34" charset="0"/>
              </a:rPr>
              <a:t>SVM can also handle non-linear kernels, enabling effective classification.</a:t>
            </a:r>
          </a:p>
          <a:p>
            <a:pPr marL="285750" indent="-285750">
              <a:buFont typeface="Wingdings" panose="05000000000000000000" pitchFamily="2" charset="2"/>
              <a:buChar char="Ø"/>
            </a:pPr>
            <a:r>
              <a:rPr lang="en-US" sz="2000" dirty="0">
                <a:latin typeface="Bahnschrift SemiBold SemiConden" panose="020B0502040204020203" pitchFamily="34" charset="0"/>
              </a:rPr>
              <a:t>SVM is used for classification and regression. </a:t>
            </a:r>
          </a:p>
          <a:p>
            <a:pPr marL="285750" indent="-285750">
              <a:buFont typeface="Wingdings" panose="05000000000000000000" pitchFamily="2" charset="2"/>
              <a:buChar char="Ø"/>
            </a:pPr>
            <a:r>
              <a:rPr lang="en-US" sz="2000" dirty="0">
                <a:latin typeface="Bahnschrift SemiBold SemiConden" panose="020B0502040204020203" pitchFamily="34" charset="0"/>
              </a:rPr>
              <a:t>It's known for its ability to handle high-dimensional data and find complex decision boundaries. </a:t>
            </a:r>
          </a:p>
          <a:p>
            <a:pPr marL="285750" indent="-285750">
              <a:buFont typeface="Wingdings" panose="05000000000000000000" pitchFamily="2" charset="2"/>
              <a:buChar char="Ø"/>
            </a:pPr>
            <a:r>
              <a:rPr lang="en-US" sz="2000" dirty="0">
                <a:latin typeface="Bahnschrift SemiBold SemiConden" panose="020B0502040204020203" pitchFamily="34" charset="0"/>
              </a:rPr>
              <a:t>In our model, it's used for disease classification. </a:t>
            </a:r>
          </a:p>
          <a:p>
            <a:pPr marL="285750" indent="-285750">
              <a:buFont typeface="Wingdings" panose="05000000000000000000" pitchFamily="2" charset="2"/>
              <a:buChar char="Ø"/>
            </a:pPr>
            <a:r>
              <a:rPr lang="en-US" sz="2000" dirty="0">
                <a:latin typeface="Bahnschrift SemiBold SemiConden" panose="020B0502040204020203" pitchFamily="34" charset="0"/>
              </a:rPr>
              <a:t>SVM finds the best hyperplane that separates data points into different classes with the largest margin. </a:t>
            </a:r>
          </a:p>
          <a:p>
            <a:pPr marL="285750" indent="-285750">
              <a:buFont typeface="Wingdings" panose="05000000000000000000" pitchFamily="2" charset="2"/>
              <a:buChar char="Ø"/>
            </a:pPr>
            <a:r>
              <a:rPr lang="en-US" sz="2000" dirty="0">
                <a:latin typeface="Bahnschrift SemiBold SemiConden" panose="020B0502040204020203" pitchFamily="34" charset="0"/>
              </a:rPr>
              <a:t>It can use different kernels to handle non-linearly separable data.</a:t>
            </a:r>
            <a:endParaRPr lang="en-IN" sz="2000" dirty="0">
              <a:latin typeface="Bahnschrift SemiBold SemiConden" panose="020B0502040204020203" pitchFamily="34" charset="0"/>
            </a:endParaRPr>
          </a:p>
        </p:txBody>
      </p:sp>
    </p:spTree>
    <p:extLst>
      <p:ext uri="{BB962C8B-B14F-4D97-AF65-F5344CB8AC3E}">
        <p14:creationId xmlns:p14="http://schemas.microsoft.com/office/powerpoint/2010/main" val="2104444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6B34A1B-ED3C-FCC5-C038-42B7AFA5A6DB}"/>
              </a:ext>
            </a:extLst>
          </p:cNvPr>
          <p:cNvSpPr>
            <a:spLocks noGrp="1"/>
          </p:cNvSpPr>
          <p:nvPr>
            <p:ph type="title"/>
          </p:nvPr>
        </p:nvSpPr>
        <p:spPr/>
        <p:txBody>
          <a:bodyPr/>
          <a:lstStyle/>
          <a:p>
            <a:r>
              <a:rPr lang="en-IN"/>
              <a:t>Dataset</a:t>
            </a:r>
            <a:endParaRPr lang="en-IN" dirty="0"/>
          </a:p>
        </p:txBody>
      </p:sp>
      <p:sp>
        <p:nvSpPr>
          <p:cNvPr id="4" name="Text Placeholder 3">
            <a:extLst>
              <a:ext uri="{FF2B5EF4-FFF2-40B4-BE49-F238E27FC236}">
                <a16:creationId xmlns:a16="http://schemas.microsoft.com/office/drawing/2014/main" id="{202A4735-80B2-E64B-3E94-CCD3D8016424}"/>
              </a:ext>
            </a:extLst>
          </p:cNvPr>
          <p:cNvSpPr>
            <a:spLocks noGrp="1"/>
          </p:cNvSpPr>
          <p:nvPr>
            <p:ph type="body" sz="half" idx="2"/>
          </p:nvPr>
        </p:nvSpPr>
        <p:spPr/>
        <p:txBody>
          <a:bodyPr>
            <a:normAutofit fontScale="92500" lnSpcReduction="10000"/>
          </a:bodyPr>
          <a:lstStyle/>
          <a:p>
            <a:r>
              <a:rPr lang="en-IN" dirty="0"/>
              <a:t>Printing of the head values of testing and training data.</a:t>
            </a:r>
          </a:p>
          <a:p>
            <a:r>
              <a:rPr lang="en-IN" dirty="0"/>
              <a:t>Both have different set of values from the provided dataset.</a:t>
            </a:r>
          </a:p>
        </p:txBody>
      </p:sp>
      <p:pic>
        <p:nvPicPr>
          <p:cNvPr id="5" name="Picture 4">
            <a:extLst>
              <a:ext uri="{FF2B5EF4-FFF2-40B4-BE49-F238E27FC236}">
                <a16:creationId xmlns:a16="http://schemas.microsoft.com/office/drawing/2014/main" id="{EE9B20D7-A557-D2BC-8098-0898098A5532}"/>
              </a:ext>
            </a:extLst>
          </p:cNvPr>
          <p:cNvPicPr>
            <a:picLocks noChangeAspect="1"/>
          </p:cNvPicPr>
          <p:nvPr/>
        </p:nvPicPr>
        <p:blipFill>
          <a:blip r:embed="rId2"/>
          <a:stretch>
            <a:fillRect/>
          </a:stretch>
        </p:blipFill>
        <p:spPr>
          <a:xfrm>
            <a:off x="0" y="277761"/>
            <a:ext cx="12192000" cy="4021394"/>
          </a:xfrm>
          <a:prstGeom prst="rect">
            <a:avLst/>
          </a:prstGeom>
        </p:spPr>
      </p:pic>
    </p:spTree>
    <p:extLst>
      <p:ext uri="{BB962C8B-B14F-4D97-AF65-F5344CB8AC3E}">
        <p14:creationId xmlns:p14="http://schemas.microsoft.com/office/powerpoint/2010/main" val="28299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DA148-FA62-B341-822D-22E78A3794F5}"/>
              </a:ext>
            </a:extLst>
          </p:cNvPr>
          <p:cNvSpPr>
            <a:spLocks noGrp="1"/>
          </p:cNvSpPr>
          <p:nvPr>
            <p:ph type="title"/>
          </p:nvPr>
        </p:nvSpPr>
        <p:spPr>
          <a:xfrm>
            <a:off x="643464" y="294968"/>
            <a:ext cx="3517567" cy="1992240"/>
          </a:xfrm>
        </p:spPr>
        <p:txBody>
          <a:bodyPr>
            <a:normAutofit/>
          </a:bodyPr>
          <a:lstStyle/>
          <a:p>
            <a:r>
              <a:rPr lang="en-IN" sz="2000" b="1" dirty="0"/>
              <a:t>NUMPY</a:t>
            </a:r>
            <a:r>
              <a:rPr lang="en-IN" sz="2000" dirty="0"/>
              <a:t>:</a:t>
            </a:r>
            <a:br>
              <a:rPr lang="en-IN" sz="2000" dirty="0"/>
            </a:br>
            <a:r>
              <a:rPr lang="en-IN" sz="1800" b="1" dirty="0"/>
              <a:t>Numpy</a:t>
            </a:r>
            <a:r>
              <a:rPr lang="en-IN" sz="1800" dirty="0"/>
              <a:t> is the primary way to handle </a:t>
            </a:r>
            <a:r>
              <a:rPr lang="en-IN" sz="1800" b="1" i="1" dirty="0"/>
              <a:t>matrices</a:t>
            </a:r>
            <a:r>
              <a:rPr lang="en-IN" sz="1800" dirty="0"/>
              <a:t> and </a:t>
            </a:r>
            <a:r>
              <a:rPr lang="en-IN" sz="1800" b="1" i="1" dirty="0"/>
              <a:t>vectors</a:t>
            </a:r>
            <a:r>
              <a:rPr lang="en-IN" sz="1800" dirty="0"/>
              <a:t> in python.</a:t>
            </a:r>
            <a:br>
              <a:rPr lang="en-IN" sz="1800" dirty="0"/>
            </a:br>
            <a:r>
              <a:rPr lang="en-IN" sz="1800" b="1" dirty="0"/>
              <a:t>Numpy</a:t>
            </a:r>
            <a:r>
              <a:rPr lang="en-IN" sz="1800" dirty="0"/>
              <a:t> can be used to model a whole dataset using vectors/matrices.</a:t>
            </a:r>
            <a:endParaRPr lang="en-IN" sz="2000" dirty="0"/>
          </a:p>
        </p:txBody>
      </p:sp>
      <p:sp>
        <p:nvSpPr>
          <p:cNvPr id="4" name="Text Placeholder 3">
            <a:extLst>
              <a:ext uri="{FF2B5EF4-FFF2-40B4-BE49-F238E27FC236}">
                <a16:creationId xmlns:a16="http://schemas.microsoft.com/office/drawing/2014/main" id="{DACCA26E-00FA-7C28-C113-13DA5EC97BB9}"/>
              </a:ext>
            </a:extLst>
          </p:cNvPr>
          <p:cNvSpPr>
            <a:spLocks noGrp="1"/>
          </p:cNvSpPr>
          <p:nvPr>
            <p:ph type="body" sz="half" idx="2"/>
          </p:nvPr>
        </p:nvSpPr>
        <p:spPr>
          <a:xfrm>
            <a:off x="541219" y="2705007"/>
            <a:ext cx="3859710" cy="1616198"/>
          </a:xfrm>
        </p:spPr>
        <p:txBody>
          <a:bodyPr>
            <a:normAutofit fontScale="92500" lnSpcReduction="20000"/>
          </a:bodyPr>
          <a:lstStyle/>
          <a:p>
            <a:r>
              <a:rPr lang="en-IN" sz="2000" b="1" dirty="0">
                <a:latin typeface="+mj-lt"/>
              </a:rPr>
              <a:t>PANDAS</a:t>
            </a:r>
            <a:r>
              <a:rPr lang="en-IN" sz="2000" dirty="0">
                <a:latin typeface="+mj-lt"/>
              </a:rPr>
              <a:t>:</a:t>
            </a:r>
          </a:p>
          <a:p>
            <a:r>
              <a:rPr lang="en-IN" sz="1600" b="1" dirty="0">
                <a:latin typeface="+mj-lt"/>
              </a:rPr>
              <a:t>Pandas</a:t>
            </a:r>
            <a:r>
              <a:rPr lang="en-IN" sz="1600" dirty="0">
                <a:latin typeface="+mj-lt"/>
              </a:rPr>
              <a:t> is chiefly used in ML in form of </a:t>
            </a:r>
            <a:r>
              <a:rPr lang="en-IN" sz="1600" b="1" dirty="0">
                <a:latin typeface="+mj-lt"/>
              </a:rPr>
              <a:t>Dataframes</a:t>
            </a:r>
            <a:r>
              <a:rPr lang="en-IN" sz="1600" dirty="0">
                <a:latin typeface="+mj-lt"/>
              </a:rPr>
              <a:t>.</a:t>
            </a:r>
          </a:p>
          <a:p>
            <a:r>
              <a:rPr lang="en-IN" sz="1600" b="1" dirty="0">
                <a:latin typeface="+mj-lt"/>
              </a:rPr>
              <a:t>Pandas</a:t>
            </a:r>
            <a:r>
              <a:rPr lang="en-IN" sz="1600" dirty="0">
                <a:latin typeface="+mj-lt"/>
              </a:rPr>
              <a:t> allow to </a:t>
            </a:r>
            <a:r>
              <a:rPr lang="en-IN" sz="1600" b="1" i="1" dirty="0">
                <a:latin typeface="+mj-lt"/>
              </a:rPr>
              <a:t>import</a:t>
            </a:r>
            <a:r>
              <a:rPr lang="en-IN" sz="1600" dirty="0">
                <a:latin typeface="+mj-lt"/>
              </a:rPr>
              <a:t> datasets in various formats like .csv, etc.</a:t>
            </a:r>
          </a:p>
        </p:txBody>
      </p:sp>
      <p:sp>
        <p:nvSpPr>
          <p:cNvPr id="13" name="TextBox 12">
            <a:extLst>
              <a:ext uri="{FF2B5EF4-FFF2-40B4-BE49-F238E27FC236}">
                <a16:creationId xmlns:a16="http://schemas.microsoft.com/office/drawing/2014/main" id="{70B25F3C-96FE-0F44-6C29-4803003AF76A}"/>
              </a:ext>
            </a:extLst>
          </p:cNvPr>
          <p:cNvSpPr txBox="1"/>
          <p:nvPr/>
        </p:nvSpPr>
        <p:spPr>
          <a:xfrm>
            <a:off x="4640827" y="937126"/>
            <a:ext cx="7551173" cy="492442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marL="285750" indent="-285750">
              <a:buFont typeface="Wingdings" panose="05000000000000000000" pitchFamily="2" charset="2"/>
              <a:buChar char="v"/>
            </a:pPr>
            <a:r>
              <a:rPr lang="en-IN" b="1" dirty="0">
                <a:solidFill>
                  <a:srgbClr val="002060"/>
                </a:solidFill>
                <a:latin typeface="Bahnschrift" panose="020B0502040204020203" pitchFamily="34" charset="0"/>
              </a:rPr>
              <a:t>MATPLOTLIB AND SEABORN: </a:t>
            </a:r>
            <a:r>
              <a:rPr lang="en-IN" dirty="0">
                <a:solidFill>
                  <a:srgbClr val="002060"/>
                </a:solidFill>
                <a:latin typeface="Bahnschrift" panose="020B0502040204020203" pitchFamily="34" charset="0"/>
              </a:rPr>
              <a:t>For plotting bargraphs, scatterplots, and many more</a:t>
            </a:r>
          </a:p>
          <a:p>
            <a:pPr marL="285750" indent="-285750">
              <a:buFont typeface="Wingdings" panose="05000000000000000000" pitchFamily="2" charset="2"/>
              <a:buChar char="v"/>
            </a:pPr>
            <a:endParaRPr lang="en-IN" dirty="0">
              <a:solidFill>
                <a:srgbClr val="002060"/>
              </a:solidFill>
              <a:latin typeface="Bahnschrift" panose="020B0502040204020203" pitchFamily="34" charset="0"/>
            </a:endParaRPr>
          </a:p>
          <a:p>
            <a:pPr marL="285750" indent="-285750">
              <a:buFont typeface="Wingdings" panose="05000000000000000000" pitchFamily="2" charset="2"/>
              <a:buChar char="v"/>
            </a:pPr>
            <a:r>
              <a:rPr lang="en-IN" b="1" dirty="0">
                <a:solidFill>
                  <a:srgbClr val="002060"/>
                </a:solidFill>
                <a:latin typeface="Bahnschrift" panose="020B0502040204020203" pitchFamily="34" charset="0"/>
              </a:rPr>
              <a:t>SMOTE </a:t>
            </a:r>
            <a:r>
              <a:rPr lang="en-IN" dirty="0">
                <a:solidFill>
                  <a:srgbClr val="002060"/>
                </a:solidFill>
                <a:latin typeface="Bahnschrift" panose="020B0502040204020203" pitchFamily="34" charset="0"/>
              </a:rPr>
              <a:t>is a sub-module imported from </a:t>
            </a:r>
            <a:r>
              <a:rPr lang="en-IN" i="1" dirty="0">
                <a:solidFill>
                  <a:srgbClr val="002060"/>
                </a:solidFill>
                <a:latin typeface="Bahnschrift" panose="020B0502040204020203" pitchFamily="34" charset="0"/>
              </a:rPr>
              <a:t>imblearn</a:t>
            </a:r>
            <a:r>
              <a:rPr lang="en-IN" dirty="0">
                <a:solidFill>
                  <a:srgbClr val="002060"/>
                </a:solidFill>
                <a:latin typeface="Bahnschrift" panose="020B0502040204020203" pitchFamily="34" charset="0"/>
              </a:rPr>
              <a:t> package, it is a statistical technique for increasing the no of cases in dataset in a balanced way.</a:t>
            </a:r>
          </a:p>
          <a:p>
            <a:pPr marL="285750" indent="-285750">
              <a:buFont typeface="Wingdings" panose="05000000000000000000" pitchFamily="2" charset="2"/>
              <a:buChar char="v"/>
            </a:pPr>
            <a:endParaRPr lang="en-IN" dirty="0">
              <a:solidFill>
                <a:srgbClr val="002060"/>
              </a:solidFill>
              <a:latin typeface="Bahnschrift" panose="020B0502040204020203" pitchFamily="34" charset="0"/>
            </a:endParaRPr>
          </a:p>
          <a:p>
            <a:pPr marL="285750" indent="-285750">
              <a:buFont typeface="Wingdings" panose="05000000000000000000" pitchFamily="2" charset="2"/>
              <a:buChar char="v"/>
            </a:pPr>
            <a:r>
              <a:rPr lang="en-IN" b="1" dirty="0">
                <a:solidFill>
                  <a:srgbClr val="002060"/>
                </a:solidFill>
                <a:latin typeface="Bahnschrift" panose="020B0502040204020203" pitchFamily="34" charset="0"/>
              </a:rPr>
              <a:t>Sklearn </a:t>
            </a:r>
            <a:r>
              <a:rPr lang="en-IN" dirty="0">
                <a:solidFill>
                  <a:srgbClr val="002060"/>
                </a:solidFill>
                <a:latin typeface="Bahnschrift" panose="020B0502040204020203" pitchFamily="34" charset="0"/>
              </a:rPr>
              <a:t>is the model or a package that provides us different sub-modules, or classes that allows us to train, test and predict data, find accuracy, precision and other scores.</a:t>
            </a:r>
          </a:p>
          <a:p>
            <a:pPr marL="285750" indent="-285750">
              <a:buFont typeface="Wingdings" panose="05000000000000000000" pitchFamily="2" charset="2"/>
              <a:buChar char="v"/>
            </a:pPr>
            <a:endParaRPr lang="en-IN" dirty="0">
              <a:solidFill>
                <a:srgbClr val="002060"/>
              </a:solidFill>
              <a:latin typeface="Bahnschrift" panose="020B0502040204020203" pitchFamily="34" charset="0"/>
            </a:endParaRPr>
          </a:p>
          <a:p>
            <a:pPr marL="285750" indent="-285750">
              <a:buFont typeface="Wingdings" panose="05000000000000000000" pitchFamily="2" charset="2"/>
              <a:buChar char="v"/>
            </a:pPr>
            <a:r>
              <a:rPr lang="en-US" sz="2000" b="1" dirty="0">
                <a:solidFill>
                  <a:srgbClr val="002060"/>
                </a:solidFill>
              </a:rPr>
              <a:t>Import warnings   warnings.filterwarnings(“ignore”): </a:t>
            </a:r>
            <a:r>
              <a:rPr lang="en-IN" sz="2000" dirty="0">
                <a:solidFill>
                  <a:srgbClr val="002060"/>
                </a:solidFill>
              </a:rPr>
              <a:t>This line imports the </a:t>
            </a:r>
            <a:r>
              <a:rPr lang="en-IN" sz="2000" b="1" dirty="0">
                <a:solidFill>
                  <a:srgbClr val="002060"/>
                </a:solidFill>
              </a:rPr>
              <a:t>WARNING</a:t>
            </a:r>
            <a:r>
              <a:rPr lang="en-US" sz="2000" dirty="0">
                <a:solidFill>
                  <a:srgbClr val="002060"/>
                </a:solidFill>
              </a:rPr>
              <a:t> module, which is a built-in Python module for handling warning messages. This is the crucial part. It tells Python to ignore all warning messages that might be generated during the execution of your code.</a:t>
            </a:r>
            <a:endParaRPr lang="en-IN" b="1" dirty="0">
              <a:solidFill>
                <a:srgbClr val="002060"/>
              </a:solidFill>
              <a:latin typeface="Bahnschrift" panose="020B0502040204020203" pitchFamily="34" charset="0"/>
            </a:endParaRPr>
          </a:p>
          <a:p>
            <a:pPr marL="285750" indent="-285750">
              <a:buFont typeface="Wingdings" panose="05000000000000000000" pitchFamily="2" charset="2"/>
              <a:buChar char="v"/>
            </a:pPr>
            <a:endParaRPr lang="en-IN" sz="1600" dirty="0">
              <a:solidFill>
                <a:srgbClr val="002060"/>
              </a:solidFill>
              <a:latin typeface="Bahnschrift" panose="020B0502040204020203" pitchFamily="34" charset="0"/>
            </a:endParaRPr>
          </a:p>
        </p:txBody>
      </p:sp>
      <p:sp>
        <p:nvSpPr>
          <p:cNvPr id="6" name="TextBox 5">
            <a:extLst>
              <a:ext uri="{FF2B5EF4-FFF2-40B4-BE49-F238E27FC236}">
                <a16:creationId xmlns:a16="http://schemas.microsoft.com/office/drawing/2014/main" id="{32859764-65D5-5D9B-D67E-44A92C80C68F}"/>
              </a:ext>
            </a:extLst>
          </p:cNvPr>
          <p:cNvSpPr txBox="1"/>
          <p:nvPr/>
        </p:nvSpPr>
        <p:spPr>
          <a:xfrm>
            <a:off x="643464" y="4601353"/>
            <a:ext cx="3517567" cy="1508105"/>
          </a:xfrm>
          <a:prstGeom prst="rect">
            <a:avLst/>
          </a:prstGeom>
          <a:noFill/>
        </p:spPr>
        <p:txBody>
          <a:bodyPr wrap="square" rtlCol="0">
            <a:spAutoFit/>
          </a:bodyPr>
          <a:lstStyle/>
          <a:p>
            <a:r>
              <a:rPr lang="en-IN" sz="2000" b="1" dirty="0">
                <a:solidFill>
                  <a:srgbClr val="FFFFFF"/>
                </a:solidFill>
              </a:rPr>
              <a:t>from re import A:</a:t>
            </a:r>
          </a:p>
          <a:p>
            <a:r>
              <a:rPr lang="en-IN" dirty="0">
                <a:solidFill>
                  <a:srgbClr val="FFFFFF"/>
                </a:solidFill>
              </a:rPr>
              <a:t>This line imports ‘A’ constant from regular expression operations module in Python, </a:t>
            </a:r>
            <a:r>
              <a:rPr lang="en-US" b="0" i="0" dirty="0">
                <a:solidFill>
                  <a:srgbClr val="E3E3E3"/>
                </a:solidFill>
                <a:effectLst/>
                <a:latin typeface="Roboto" panose="02000000000000000000" pitchFamily="2" charset="0"/>
              </a:rPr>
              <a:t>such as pattern matching in strings.</a:t>
            </a:r>
            <a:endParaRPr lang="en-IN" dirty="0">
              <a:solidFill>
                <a:srgbClr val="FFFFFF"/>
              </a:solidFill>
            </a:endParaRPr>
          </a:p>
        </p:txBody>
      </p:sp>
    </p:spTree>
    <p:extLst>
      <p:ext uri="{BB962C8B-B14F-4D97-AF65-F5344CB8AC3E}">
        <p14:creationId xmlns:p14="http://schemas.microsoft.com/office/powerpoint/2010/main" val="4187401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8C11158-96A9-151D-30AC-80BA48E81BE8}"/>
              </a:ext>
            </a:extLst>
          </p:cNvPr>
          <p:cNvSpPr>
            <a:spLocks noGrp="1"/>
          </p:cNvSpPr>
          <p:nvPr>
            <p:ph type="title"/>
          </p:nvPr>
        </p:nvSpPr>
        <p:spPr>
          <a:xfrm>
            <a:off x="498403" y="4678361"/>
            <a:ext cx="2854398" cy="421875"/>
          </a:xfrm>
        </p:spPr>
        <p:txBody>
          <a:bodyPr/>
          <a:lstStyle/>
          <a:p>
            <a:r>
              <a:rPr lang="en-IN" sz="2400" dirty="0"/>
              <a:t>READ AND FED</a:t>
            </a:r>
          </a:p>
        </p:txBody>
      </p:sp>
      <p:sp>
        <p:nvSpPr>
          <p:cNvPr id="4" name="Text Placeholder 3">
            <a:extLst>
              <a:ext uri="{FF2B5EF4-FFF2-40B4-BE49-F238E27FC236}">
                <a16:creationId xmlns:a16="http://schemas.microsoft.com/office/drawing/2014/main" id="{89ADCBC5-824A-F4D1-CA6C-C83CC4211B6E}"/>
              </a:ext>
            </a:extLst>
          </p:cNvPr>
          <p:cNvSpPr>
            <a:spLocks noGrp="1"/>
          </p:cNvSpPr>
          <p:nvPr>
            <p:ph type="body" sz="half" idx="2"/>
          </p:nvPr>
        </p:nvSpPr>
        <p:spPr>
          <a:xfrm>
            <a:off x="98323" y="5160112"/>
            <a:ext cx="4975123" cy="1759664"/>
          </a:xfrm>
        </p:spPr>
        <p:txBody>
          <a:bodyPr>
            <a:normAutofit/>
          </a:bodyPr>
          <a:lstStyle/>
          <a:p>
            <a:r>
              <a:rPr lang="en-IN" sz="1400" dirty="0"/>
              <a:t>Here we can read the data from the dataset and use it for training and testing of the algorithm.</a:t>
            </a:r>
          </a:p>
          <a:p>
            <a:r>
              <a:rPr lang="en-IN" sz="1400" dirty="0"/>
              <a:t>The dataset is called  and read using a pandas function </a:t>
            </a:r>
            <a:r>
              <a:rPr lang="en-IN" sz="1400" b="1" i="1" dirty="0"/>
              <a:t>pd.read_csv(‘filename.csv’) </a:t>
            </a:r>
            <a:r>
              <a:rPr lang="en-IN" sz="1400" dirty="0"/>
              <a:t>and filename is the path to where the dataset is saved in drive</a:t>
            </a:r>
          </a:p>
        </p:txBody>
      </p:sp>
      <p:sp>
        <p:nvSpPr>
          <p:cNvPr id="9" name="Rectangle 8">
            <a:extLst>
              <a:ext uri="{FF2B5EF4-FFF2-40B4-BE49-F238E27FC236}">
                <a16:creationId xmlns:a16="http://schemas.microsoft.com/office/drawing/2014/main" id="{0C584753-F755-3DBD-AFB9-4B01C64AE793}"/>
              </a:ext>
            </a:extLst>
          </p:cNvPr>
          <p:cNvSpPr/>
          <p:nvPr/>
        </p:nvSpPr>
        <p:spPr>
          <a:xfrm>
            <a:off x="0" y="294967"/>
            <a:ext cx="12217248" cy="3618272"/>
          </a:xfrm>
          <a:prstGeom prst="rect">
            <a:avLst/>
          </a:prstGeom>
          <a:solidFill>
            <a:schemeClr val="tx1">
              <a:lumMod val="95000"/>
              <a:lumOff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ln>
                <a:solidFill>
                  <a:sysClr val="windowText" lastClr="000000"/>
                </a:solidFill>
              </a:ln>
              <a:solidFill>
                <a:sysClr val="windowText" lastClr="000000"/>
              </a:solidFill>
              <a:highlight>
                <a:srgbClr val="000000"/>
              </a:highlight>
            </a:endParaRPr>
          </a:p>
        </p:txBody>
      </p:sp>
      <p:sp>
        <p:nvSpPr>
          <p:cNvPr id="10" name="Title 2">
            <a:extLst>
              <a:ext uri="{FF2B5EF4-FFF2-40B4-BE49-F238E27FC236}">
                <a16:creationId xmlns:a16="http://schemas.microsoft.com/office/drawing/2014/main" id="{A47D5E11-52A4-E73F-C095-147EF28EA943}"/>
              </a:ext>
            </a:extLst>
          </p:cNvPr>
          <p:cNvSpPr txBox="1">
            <a:spLocks/>
          </p:cNvSpPr>
          <p:nvPr/>
        </p:nvSpPr>
        <p:spPr>
          <a:xfrm>
            <a:off x="7157885" y="4678361"/>
            <a:ext cx="4535712" cy="421875"/>
          </a:xfrm>
          <a:prstGeom prst="rect">
            <a:avLst/>
          </a:prstGeom>
        </p:spPr>
        <p:txBody>
          <a:bodyPr vert="horz" lIns="91440" tIns="0" rIns="91440" bIns="0" rtlCol="0" anchor="b">
            <a:noAutofit/>
          </a:bodyPr>
          <a:lstStyle>
            <a:lvl1pPr algn="l" defTabSz="914400" rtl="0" eaLnBrk="1" latinLnBrk="0" hangingPunct="1">
              <a:lnSpc>
                <a:spcPct val="90000"/>
              </a:lnSpc>
              <a:spcBef>
                <a:spcPct val="0"/>
              </a:spcBef>
              <a:buNone/>
              <a:defRPr sz="3600" b="0" i="0" kern="1200" spc="-50" baseline="0">
                <a:solidFill>
                  <a:srgbClr val="FFFFFF"/>
                </a:solidFill>
                <a:latin typeface="+mj-lt"/>
                <a:ea typeface="+mj-ea"/>
                <a:cs typeface="+mj-cs"/>
              </a:defRPr>
            </a:lvl1pPr>
          </a:lstStyle>
          <a:p>
            <a:r>
              <a:rPr lang="en-IN" sz="2400" dirty="0"/>
              <a:t>SPLIT in Test and Train</a:t>
            </a:r>
          </a:p>
        </p:txBody>
      </p:sp>
      <p:sp>
        <p:nvSpPr>
          <p:cNvPr id="11" name="Text Placeholder 3">
            <a:extLst>
              <a:ext uri="{FF2B5EF4-FFF2-40B4-BE49-F238E27FC236}">
                <a16:creationId xmlns:a16="http://schemas.microsoft.com/office/drawing/2014/main" id="{98DE85F8-9A49-E4EE-2A52-07E7C24B1220}"/>
              </a:ext>
            </a:extLst>
          </p:cNvPr>
          <p:cNvSpPr txBox="1">
            <a:spLocks/>
          </p:cNvSpPr>
          <p:nvPr/>
        </p:nvSpPr>
        <p:spPr>
          <a:xfrm>
            <a:off x="6083376" y="5160112"/>
            <a:ext cx="5997677" cy="1759664"/>
          </a:xfrm>
          <a:prstGeom prst="rect">
            <a:avLst/>
          </a:prstGeom>
        </p:spPr>
        <p:txBody>
          <a:bodyPr vert="horz" lIns="91440" tIns="0" rIns="91440" bIns="0" rtlCol="0">
            <a:normAutofit/>
          </a:bodyPr>
          <a:lstStyle>
            <a:lvl1pPr marL="0" indent="0" algn="l" defTabSz="914400" rtl="0" eaLnBrk="1" latinLnBrk="0" hangingPunct="1">
              <a:lnSpc>
                <a:spcPct val="110000"/>
              </a:lnSpc>
              <a:spcBef>
                <a:spcPts val="0"/>
              </a:spcBef>
              <a:spcAft>
                <a:spcPts val="600"/>
              </a:spcAft>
              <a:buClr>
                <a:schemeClr val="accent1"/>
              </a:buClr>
              <a:buSzPct val="100000"/>
              <a:buFont typeface="Calibri" panose="020F0502020204030204" pitchFamily="34" charset="0"/>
              <a:buNone/>
              <a:defRPr sz="1800" kern="1200">
                <a:solidFill>
                  <a:srgbClr val="FFFFFF"/>
                </a:solidFill>
                <a:latin typeface="+mn-lt"/>
                <a:ea typeface="+mn-ea"/>
                <a:cs typeface="+mn-cs"/>
              </a:defRPr>
            </a:lvl1pPr>
            <a:lvl2pPr marL="457200" indent="0" algn="l" defTabSz="914400" rtl="0" eaLnBrk="1" latinLnBrk="0" hangingPunct="1">
              <a:lnSpc>
                <a:spcPct val="100000"/>
              </a:lnSpc>
              <a:spcBef>
                <a:spcPts val="200"/>
              </a:spcBef>
              <a:spcAft>
                <a:spcPts val="400"/>
              </a:spcAft>
              <a:buClrTx/>
              <a:buFont typeface="Calibri" pitchFamily="34" charset="0"/>
              <a:buNone/>
              <a:defRPr sz="1200" kern="1200">
                <a:solidFill>
                  <a:schemeClr val="tx1">
                    <a:lumMod val="75000"/>
                    <a:lumOff val="25000"/>
                  </a:schemeClr>
                </a:solidFill>
                <a:latin typeface="+mn-lt"/>
                <a:ea typeface="+mn-ea"/>
                <a:cs typeface="+mn-cs"/>
              </a:defRPr>
            </a:lvl2pPr>
            <a:lvl3pPr marL="914400" indent="0" algn="l" defTabSz="914400" rtl="0" eaLnBrk="1" latinLnBrk="0" hangingPunct="1">
              <a:lnSpc>
                <a:spcPct val="100000"/>
              </a:lnSpc>
              <a:spcBef>
                <a:spcPts val="200"/>
              </a:spcBef>
              <a:spcAft>
                <a:spcPts val="400"/>
              </a:spcAft>
              <a:buClrTx/>
              <a:buFont typeface="Calibri" pitchFamily="34" charset="0"/>
              <a:buNone/>
              <a:defRPr sz="1000" kern="1200">
                <a:solidFill>
                  <a:schemeClr val="tx1">
                    <a:lumMod val="75000"/>
                    <a:lumOff val="25000"/>
                  </a:schemeClr>
                </a:solidFill>
                <a:latin typeface="+mn-lt"/>
                <a:ea typeface="+mn-ea"/>
                <a:cs typeface="+mn-cs"/>
              </a:defRPr>
            </a:lvl3pPr>
            <a:lvl4pPr marL="13716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4pPr>
            <a:lvl5pPr marL="1828800" indent="0" algn="l" defTabSz="914400" rtl="0" eaLnBrk="1" latinLnBrk="0" hangingPunct="1">
              <a:lnSpc>
                <a:spcPct val="100000"/>
              </a:lnSpc>
              <a:spcBef>
                <a:spcPts val="200"/>
              </a:spcBef>
              <a:spcAft>
                <a:spcPts val="400"/>
              </a:spcAft>
              <a:buClrTx/>
              <a:buFont typeface="Calibri" pitchFamily="34" charset="0"/>
              <a:buNone/>
              <a:defRPr sz="900" kern="1200">
                <a:solidFill>
                  <a:schemeClr val="tx1">
                    <a:lumMod val="75000"/>
                    <a:lumOff val="25000"/>
                  </a:schemeClr>
                </a:solidFill>
                <a:latin typeface="+mn-lt"/>
                <a:ea typeface="+mn-ea"/>
                <a:cs typeface="+mn-cs"/>
              </a:defRPr>
            </a:lvl5pPr>
            <a:lvl6pPr marL="22860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6pPr>
            <a:lvl7pPr marL="27432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7pPr>
            <a:lvl8pPr marL="32004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8pPr>
            <a:lvl9pPr marL="3657600" indent="0" algn="l" defTabSz="914400" rtl="0" eaLnBrk="1" latinLnBrk="0" hangingPunct="1">
              <a:lnSpc>
                <a:spcPct val="90000"/>
              </a:lnSpc>
              <a:spcBef>
                <a:spcPts val="200"/>
              </a:spcBef>
              <a:spcAft>
                <a:spcPts val="400"/>
              </a:spcAft>
              <a:buClr>
                <a:schemeClr val="accent1"/>
              </a:buClr>
              <a:buFont typeface="Calibri" pitchFamily="34" charset="0"/>
              <a:buNone/>
              <a:defRPr sz="900" kern="1200">
                <a:solidFill>
                  <a:schemeClr val="tx1">
                    <a:lumMod val="75000"/>
                    <a:lumOff val="25000"/>
                  </a:schemeClr>
                </a:solidFill>
                <a:latin typeface="+mn-lt"/>
                <a:ea typeface="+mn-ea"/>
                <a:cs typeface="+mn-cs"/>
              </a:defRPr>
            </a:lvl9pPr>
          </a:lstStyle>
          <a:p>
            <a:r>
              <a:rPr lang="en-IN" sz="1400" dirty="0"/>
              <a:t>Using train_test_split function we are splitting the inserted dataset “</a:t>
            </a:r>
            <a:r>
              <a:rPr lang="en-IN" sz="1400" b="1" i="1" dirty="0"/>
              <a:t>file</a:t>
            </a:r>
            <a:r>
              <a:rPr lang="en-IN" sz="1400" b="1" dirty="0"/>
              <a:t>.</a:t>
            </a:r>
            <a:r>
              <a:rPr lang="en-IN" sz="1400" b="1" i="1" dirty="0"/>
              <a:t>csv” </a:t>
            </a:r>
            <a:r>
              <a:rPr lang="en-IN" sz="1400" i="1" dirty="0"/>
              <a:t>into 80:20</a:t>
            </a:r>
            <a:r>
              <a:rPr lang="en-IN" sz="1400" dirty="0"/>
              <a:t> portion.</a:t>
            </a:r>
          </a:p>
          <a:p>
            <a:r>
              <a:rPr lang="en-IN" sz="1400" dirty="0"/>
              <a:t>The Train data will be trained to the algorithm, and Test data will be tested after being trained by the dataset, to ensure the model properly works.</a:t>
            </a:r>
          </a:p>
        </p:txBody>
      </p:sp>
      <p:sp>
        <p:nvSpPr>
          <p:cNvPr id="12" name="TextBox 11">
            <a:extLst>
              <a:ext uri="{FF2B5EF4-FFF2-40B4-BE49-F238E27FC236}">
                <a16:creationId xmlns:a16="http://schemas.microsoft.com/office/drawing/2014/main" id="{E6C0C2CD-247A-3874-DF2C-03E398409979}"/>
              </a:ext>
            </a:extLst>
          </p:cNvPr>
          <p:cNvSpPr txBox="1"/>
          <p:nvPr/>
        </p:nvSpPr>
        <p:spPr>
          <a:xfrm>
            <a:off x="0" y="597121"/>
            <a:ext cx="12191999" cy="646331"/>
          </a:xfrm>
          <a:prstGeom prst="rect">
            <a:avLst/>
          </a:prstGeom>
          <a:noFill/>
        </p:spPr>
        <p:txBody>
          <a:bodyPr wrap="square" rtlCol="0">
            <a:spAutoFit/>
          </a:bodyPr>
          <a:lstStyle/>
          <a:p>
            <a:pPr algn="ctr"/>
            <a:r>
              <a:rPr lang="en-IN" sz="3600" b="1" dirty="0">
                <a:solidFill>
                  <a:schemeClr val="bg1"/>
                </a:solidFill>
                <a:latin typeface="Bookman Old Style" panose="02050604050505020204" pitchFamily="18" charset="0"/>
              </a:rPr>
              <a:t>SHAPE OF THE DATA</a:t>
            </a:r>
          </a:p>
        </p:txBody>
      </p:sp>
      <p:sp>
        <p:nvSpPr>
          <p:cNvPr id="13" name="TextBox 12">
            <a:extLst>
              <a:ext uri="{FF2B5EF4-FFF2-40B4-BE49-F238E27FC236}">
                <a16:creationId xmlns:a16="http://schemas.microsoft.com/office/drawing/2014/main" id="{EA444537-A070-FB8F-582F-392AEA5C01C9}"/>
              </a:ext>
            </a:extLst>
          </p:cNvPr>
          <p:cNvSpPr txBox="1"/>
          <p:nvPr/>
        </p:nvSpPr>
        <p:spPr>
          <a:xfrm>
            <a:off x="498403" y="1822605"/>
            <a:ext cx="11437958" cy="1569660"/>
          </a:xfrm>
          <a:prstGeom prst="rect">
            <a:avLst/>
          </a:prstGeom>
          <a:noFill/>
        </p:spPr>
        <p:txBody>
          <a:bodyPr wrap="square" rtlCol="0">
            <a:spAutoFit/>
          </a:bodyPr>
          <a:lstStyle/>
          <a:p>
            <a:r>
              <a:rPr lang="en-IN" sz="2400" dirty="0">
                <a:solidFill>
                  <a:schemeClr val="bg1"/>
                </a:solidFill>
              </a:rPr>
              <a:t>The Shape of the Train and Test data defines how many data from the data has been fed for training and what is the number of data it will be tested on.</a:t>
            </a:r>
          </a:p>
          <a:p>
            <a:r>
              <a:rPr lang="en-IN" sz="2400" dirty="0">
                <a:solidFill>
                  <a:schemeClr val="bg1"/>
                </a:solidFill>
              </a:rPr>
              <a:t>Here we have taken 80% of data for training the model and 20% of data for the testing procedures.</a:t>
            </a:r>
          </a:p>
        </p:txBody>
      </p:sp>
    </p:spTree>
    <p:extLst>
      <p:ext uri="{BB962C8B-B14F-4D97-AF65-F5344CB8AC3E}">
        <p14:creationId xmlns:p14="http://schemas.microsoft.com/office/powerpoint/2010/main" val="91813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lumMod val="25000"/>
          </a:schemeClr>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496DE39-1179-6092-1651-C97A3450FF2C}"/>
              </a:ext>
            </a:extLst>
          </p:cNvPr>
          <p:cNvPicPr>
            <a:picLocks noChangeAspect="1"/>
          </p:cNvPicPr>
          <p:nvPr/>
        </p:nvPicPr>
        <p:blipFill>
          <a:blip r:embed="rId2"/>
          <a:srcRect l="787" t="10556" r="2282" b="-556"/>
          <a:stretch/>
        </p:blipFill>
        <p:spPr>
          <a:xfrm>
            <a:off x="6302477" y="0"/>
            <a:ext cx="5874813" cy="4572000"/>
          </a:xfrm>
          <a:prstGeom prst="rect">
            <a:avLst/>
          </a:prstGeom>
        </p:spPr>
      </p:pic>
      <p:pic>
        <p:nvPicPr>
          <p:cNvPr id="14" name="Picture 13">
            <a:extLst>
              <a:ext uri="{FF2B5EF4-FFF2-40B4-BE49-F238E27FC236}">
                <a16:creationId xmlns:a16="http://schemas.microsoft.com/office/drawing/2014/main" id="{5D8D726D-8293-2A88-FADA-6C0565FD02F9}"/>
              </a:ext>
            </a:extLst>
          </p:cNvPr>
          <p:cNvPicPr>
            <a:picLocks noChangeAspect="1"/>
          </p:cNvPicPr>
          <p:nvPr/>
        </p:nvPicPr>
        <p:blipFill>
          <a:blip r:embed="rId3"/>
          <a:srcRect l="3500" t="20015" r="13" b="572"/>
          <a:stretch/>
        </p:blipFill>
        <p:spPr>
          <a:xfrm>
            <a:off x="14711" y="5342"/>
            <a:ext cx="6081290" cy="4566657"/>
          </a:xfrm>
          <a:prstGeom prst="rect">
            <a:avLst/>
          </a:prstGeom>
        </p:spPr>
      </p:pic>
      <p:sp>
        <p:nvSpPr>
          <p:cNvPr id="5" name="Text Placeholder 4">
            <a:extLst>
              <a:ext uri="{FF2B5EF4-FFF2-40B4-BE49-F238E27FC236}">
                <a16:creationId xmlns:a16="http://schemas.microsoft.com/office/drawing/2014/main" id="{7DFC4B6E-9523-48C9-7E26-02AAFE9B9AFC}"/>
              </a:ext>
            </a:extLst>
          </p:cNvPr>
          <p:cNvSpPr>
            <a:spLocks noGrp="1"/>
          </p:cNvSpPr>
          <p:nvPr>
            <p:ph type="body" sz="half" idx="2"/>
          </p:nvPr>
        </p:nvSpPr>
        <p:spPr>
          <a:xfrm>
            <a:off x="1146441" y="5233220"/>
            <a:ext cx="10113264" cy="609600"/>
          </a:xfrm>
        </p:spPr>
        <p:txBody>
          <a:bodyPr>
            <a:normAutofit/>
          </a:bodyPr>
          <a:lstStyle/>
          <a:p>
            <a:pPr algn="ctr"/>
            <a:r>
              <a:rPr lang="en-IN" sz="3600" b="1" dirty="0"/>
              <a:t>VIOLIN PLOT AND PAIR PLOT</a:t>
            </a:r>
          </a:p>
        </p:txBody>
      </p:sp>
    </p:spTree>
    <p:extLst>
      <p:ext uri="{BB962C8B-B14F-4D97-AF65-F5344CB8AC3E}">
        <p14:creationId xmlns:p14="http://schemas.microsoft.com/office/powerpoint/2010/main" val="12711386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6600"/>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EBC43A6-4457-8D6A-EC61-19E343633E66}"/>
              </a:ext>
            </a:extLst>
          </p:cNvPr>
          <p:cNvSpPr>
            <a:spLocks noGrp="1"/>
          </p:cNvSpPr>
          <p:nvPr>
            <p:ph type="title"/>
          </p:nvPr>
        </p:nvSpPr>
        <p:spPr/>
        <p:txBody>
          <a:bodyPr/>
          <a:lstStyle/>
          <a:p>
            <a:pPr algn="ctr"/>
            <a:r>
              <a:rPr lang="en-IN" b="1" dirty="0"/>
              <a:t>SCATTER PLOT AND BAR PLOT</a:t>
            </a:r>
          </a:p>
        </p:txBody>
      </p:sp>
      <p:pic>
        <p:nvPicPr>
          <p:cNvPr id="5" name="Picture 4">
            <a:extLst>
              <a:ext uri="{FF2B5EF4-FFF2-40B4-BE49-F238E27FC236}">
                <a16:creationId xmlns:a16="http://schemas.microsoft.com/office/drawing/2014/main" id="{B3FFB15E-C15B-EB4B-1A5D-198BB28F8653}"/>
              </a:ext>
            </a:extLst>
          </p:cNvPr>
          <p:cNvPicPr>
            <a:picLocks noChangeAspect="1"/>
          </p:cNvPicPr>
          <p:nvPr/>
        </p:nvPicPr>
        <p:blipFill>
          <a:blip r:embed="rId2"/>
          <a:srcRect t="18817" b="-171"/>
          <a:stretch/>
        </p:blipFill>
        <p:spPr>
          <a:xfrm>
            <a:off x="1" y="0"/>
            <a:ext cx="5935314" cy="4627406"/>
          </a:xfrm>
          <a:prstGeom prst="rect">
            <a:avLst/>
          </a:prstGeom>
        </p:spPr>
      </p:pic>
      <p:pic>
        <p:nvPicPr>
          <p:cNvPr id="6" name="Picture 5">
            <a:extLst>
              <a:ext uri="{FF2B5EF4-FFF2-40B4-BE49-F238E27FC236}">
                <a16:creationId xmlns:a16="http://schemas.microsoft.com/office/drawing/2014/main" id="{47AFC659-C056-F588-77A9-2FB2F56654BF}"/>
              </a:ext>
            </a:extLst>
          </p:cNvPr>
          <p:cNvPicPr>
            <a:picLocks noChangeAspect="1"/>
          </p:cNvPicPr>
          <p:nvPr/>
        </p:nvPicPr>
        <p:blipFill>
          <a:blip r:embed="rId3"/>
          <a:srcRect t="11894" b="-520"/>
          <a:stretch/>
        </p:blipFill>
        <p:spPr>
          <a:xfrm>
            <a:off x="6061830" y="1154"/>
            <a:ext cx="6130170" cy="4626252"/>
          </a:xfrm>
          <a:prstGeom prst="rect">
            <a:avLst/>
          </a:prstGeom>
        </p:spPr>
      </p:pic>
    </p:spTree>
    <p:extLst>
      <p:ext uri="{BB962C8B-B14F-4D97-AF65-F5344CB8AC3E}">
        <p14:creationId xmlns:p14="http://schemas.microsoft.com/office/powerpoint/2010/main" val="3629194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E1031A9-AFEC-D118-98BB-6ADF88D8E43C}"/>
              </a:ext>
            </a:extLst>
          </p:cNvPr>
          <p:cNvSpPr>
            <a:spLocks noGrp="1"/>
          </p:cNvSpPr>
          <p:nvPr>
            <p:ph type="title"/>
          </p:nvPr>
        </p:nvSpPr>
        <p:spPr>
          <a:xfrm>
            <a:off x="1313589" y="5399131"/>
            <a:ext cx="10113645" cy="743682"/>
          </a:xfrm>
        </p:spPr>
        <p:txBody>
          <a:bodyPr/>
          <a:lstStyle/>
          <a:p>
            <a:r>
              <a:rPr lang="en-IN" dirty="0"/>
              <a:t>Metrices Check</a:t>
            </a:r>
          </a:p>
        </p:txBody>
      </p:sp>
      <p:sp>
        <p:nvSpPr>
          <p:cNvPr id="4" name="Text Placeholder 3">
            <a:extLst>
              <a:ext uri="{FF2B5EF4-FFF2-40B4-BE49-F238E27FC236}">
                <a16:creationId xmlns:a16="http://schemas.microsoft.com/office/drawing/2014/main" id="{7FD0BA7F-E311-6211-B186-B5AC2D3C3320}"/>
              </a:ext>
            </a:extLst>
          </p:cNvPr>
          <p:cNvSpPr>
            <a:spLocks noGrp="1"/>
          </p:cNvSpPr>
          <p:nvPr>
            <p:ph type="body" sz="half" idx="2"/>
          </p:nvPr>
        </p:nvSpPr>
        <p:spPr>
          <a:xfrm>
            <a:off x="1127157" y="6142813"/>
            <a:ext cx="10113264" cy="609600"/>
          </a:xfrm>
        </p:spPr>
        <p:txBody>
          <a:bodyPr/>
          <a:lstStyle/>
          <a:p>
            <a:r>
              <a:rPr lang="en-IN" dirty="0"/>
              <a:t>Finally, we get to know about the different Scores of different algorithm that was fit into our dataset, and which one fits the best in our model, by comparing their metrices on the fitted dataset.</a:t>
            </a:r>
          </a:p>
        </p:txBody>
      </p:sp>
      <p:pic>
        <p:nvPicPr>
          <p:cNvPr id="7" name="Picture 6">
            <a:extLst>
              <a:ext uri="{FF2B5EF4-FFF2-40B4-BE49-F238E27FC236}">
                <a16:creationId xmlns:a16="http://schemas.microsoft.com/office/drawing/2014/main" id="{4FCDBF54-864D-4F20-B529-8A6F6F375DED}"/>
              </a:ext>
            </a:extLst>
          </p:cNvPr>
          <p:cNvPicPr>
            <a:picLocks noChangeAspect="1"/>
          </p:cNvPicPr>
          <p:nvPr/>
        </p:nvPicPr>
        <p:blipFill>
          <a:blip r:embed="rId2"/>
          <a:srcRect l="6342" t="49430" r="27357" b="337"/>
          <a:stretch/>
        </p:blipFill>
        <p:spPr>
          <a:xfrm>
            <a:off x="-9832" y="-9834"/>
            <a:ext cx="6105832" cy="1875059"/>
          </a:xfrm>
          <a:prstGeom prst="rect">
            <a:avLst/>
          </a:prstGeom>
        </p:spPr>
      </p:pic>
      <p:pic>
        <p:nvPicPr>
          <p:cNvPr id="9" name="Picture 8">
            <a:extLst>
              <a:ext uri="{FF2B5EF4-FFF2-40B4-BE49-F238E27FC236}">
                <a16:creationId xmlns:a16="http://schemas.microsoft.com/office/drawing/2014/main" id="{6A3D54B9-911C-3684-13D2-0B90543D2F7E}"/>
              </a:ext>
            </a:extLst>
          </p:cNvPr>
          <p:cNvPicPr>
            <a:picLocks noChangeAspect="1"/>
          </p:cNvPicPr>
          <p:nvPr/>
        </p:nvPicPr>
        <p:blipFill>
          <a:blip r:embed="rId3"/>
          <a:srcRect l="2248" t="48876" r="9066" b="-561"/>
          <a:stretch/>
        </p:blipFill>
        <p:spPr>
          <a:xfrm>
            <a:off x="6107794" y="1836508"/>
            <a:ext cx="6084206" cy="1878595"/>
          </a:xfrm>
          <a:prstGeom prst="rect">
            <a:avLst/>
          </a:prstGeom>
        </p:spPr>
      </p:pic>
      <p:pic>
        <p:nvPicPr>
          <p:cNvPr id="11" name="Picture 10">
            <a:extLst>
              <a:ext uri="{FF2B5EF4-FFF2-40B4-BE49-F238E27FC236}">
                <a16:creationId xmlns:a16="http://schemas.microsoft.com/office/drawing/2014/main" id="{A15CF17E-D216-AEB4-C3F2-F14C076C8F4A}"/>
              </a:ext>
            </a:extLst>
          </p:cNvPr>
          <p:cNvPicPr>
            <a:picLocks noChangeAspect="1"/>
          </p:cNvPicPr>
          <p:nvPr/>
        </p:nvPicPr>
        <p:blipFill>
          <a:blip r:embed="rId4"/>
          <a:srcRect l="2578" t="49466" r="19072" b="534"/>
          <a:stretch/>
        </p:blipFill>
        <p:spPr>
          <a:xfrm>
            <a:off x="-41291" y="1865225"/>
            <a:ext cx="6149085" cy="1824830"/>
          </a:xfrm>
          <a:prstGeom prst="rect">
            <a:avLst/>
          </a:prstGeom>
        </p:spPr>
      </p:pic>
      <p:pic>
        <p:nvPicPr>
          <p:cNvPr id="13" name="Picture 12">
            <a:extLst>
              <a:ext uri="{FF2B5EF4-FFF2-40B4-BE49-F238E27FC236}">
                <a16:creationId xmlns:a16="http://schemas.microsoft.com/office/drawing/2014/main" id="{CFE3F2B7-FAE1-178F-59B0-0B9C8423C76E}"/>
              </a:ext>
            </a:extLst>
          </p:cNvPr>
          <p:cNvPicPr>
            <a:picLocks noChangeAspect="1"/>
          </p:cNvPicPr>
          <p:nvPr/>
        </p:nvPicPr>
        <p:blipFill>
          <a:blip r:embed="rId5"/>
          <a:srcRect l="6507" t="48163" r="5715" b="2808"/>
          <a:stretch/>
        </p:blipFill>
        <p:spPr>
          <a:xfrm>
            <a:off x="6149086" y="3690055"/>
            <a:ext cx="6052747" cy="1709076"/>
          </a:xfrm>
          <a:prstGeom prst="rect">
            <a:avLst/>
          </a:prstGeom>
        </p:spPr>
      </p:pic>
      <p:pic>
        <p:nvPicPr>
          <p:cNvPr id="18" name="Picture 17">
            <a:extLst>
              <a:ext uri="{FF2B5EF4-FFF2-40B4-BE49-F238E27FC236}">
                <a16:creationId xmlns:a16="http://schemas.microsoft.com/office/drawing/2014/main" id="{77E1AE5E-2584-F7D8-202A-66869F2139B8}"/>
              </a:ext>
            </a:extLst>
          </p:cNvPr>
          <p:cNvPicPr>
            <a:picLocks noChangeAspect="1"/>
          </p:cNvPicPr>
          <p:nvPr/>
        </p:nvPicPr>
        <p:blipFill>
          <a:blip r:embed="rId6"/>
          <a:srcRect l="6334" t="47191" r="16675"/>
          <a:stretch/>
        </p:blipFill>
        <p:spPr>
          <a:xfrm>
            <a:off x="6096000" y="-26329"/>
            <a:ext cx="6096000" cy="1891554"/>
          </a:xfrm>
          <a:prstGeom prst="rect">
            <a:avLst/>
          </a:prstGeom>
        </p:spPr>
      </p:pic>
      <p:pic>
        <p:nvPicPr>
          <p:cNvPr id="20" name="Picture 19">
            <a:extLst>
              <a:ext uri="{FF2B5EF4-FFF2-40B4-BE49-F238E27FC236}">
                <a16:creationId xmlns:a16="http://schemas.microsoft.com/office/drawing/2014/main" id="{CAA32C10-FF16-C217-8848-BE74596BADF5}"/>
              </a:ext>
            </a:extLst>
          </p:cNvPr>
          <p:cNvPicPr>
            <a:picLocks noChangeAspect="1"/>
          </p:cNvPicPr>
          <p:nvPr/>
        </p:nvPicPr>
        <p:blipFill>
          <a:blip r:embed="rId7"/>
          <a:srcRect l="1234" t="48748" r="1234" b="1426"/>
          <a:stretch/>
        </p:blipFill>
        <p:spPr>
          <a:xfrm>
            <a:off x="0" y="3690055"/>
            <a:ext cx="6149084" cy="1737793"/>
          </a:xfrm>
          <a:prstGeom prst="rect">
            <a:avLst/>
          </a:prstGeom>
        </p:spPr>
      </p:pic>
    </p:spTree>
    <p:extLst>
      <p:ext uri="{BB962C8B-B14F-4D97-AF65-F5344CB8AC3E}">
        <p14:creationId xmlns:p14="http://schemas.microsoft.com/office/powerpoint/2010/main" val="3061667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402F3B63-0224-FA93-09AA-AC533010C2B3}"/>
              </a:ext>
            </a:extLst>
          </p:cNvPr>
          <p:cNvSpPr>
            <a:spLocks noGrp="1"/>
          </p:cNvSpPr>
          <p:nvPr>
            <p:ph type="body" sz="half" idx="2"/>
          </p:nvPr>
        </p:nvSpPr>
        <p:spPr>
          <a:xfrm>
            <a:off x="294968" y="5715000"/>
            <a:ext cx="11316929" cy="1143000"/>
          </a:xfrm>
        </p:spPr>
        <p:txBody>
          <a:bodyPr>
            <a:normAutofit/>
          </a:bodyPr>
          <a:lstStyle/>
          <a:p>
            <a:r>
              <a:rPr lang="en-IN" sz="2400" b="1" dirty="0">
                <a:highlight>
                  <a:srgbClr val="006600"/>
                </a:highlight>
                <a:latin typeface="Arial Black" panose="020B0A04020102020204" pitchFamily="34" charset="0"/>
              </a:rPr>
              <a:t>COMPARISON</a:t>
            </a:r>
            <a:r>
              <a:rPr lang="en-IN" sz="2000" b="1" dirty="0">
                <a:highlight>
                  <a:srgbClr val="006600"/>
                </a:highlight>
                <a:latin typeface="Arial Black" panose="020B0A04020102020204" pitchFamily="34" charset="0"/>
              </a:rPr>
              <a:t>: </a:t>
            </a:r>
            <a:r>
              <a:rPr lang="en-IN" dirty="0">
                <a:highlight>
                  <a:srgbClr val="006600"/>
                </a:highlight>
                <a:latin typeface="Arial Black" panose="020B0A04020102020204" pitchFamily="34" charset="0"/>
              </a:rPr>
              <a:t>HERE WE ARE COMPARING THE ACCURACY SCORES AND CHECKING WHICH ONE MIGHT BE THE BEST SUITED FOR OUR PREDICTION MODEL.</a:t>
            </a:r>
          </a:p>
        </p:txBody>
      </p:sp>
      <p:pic>
        <p:nvPicPr>
          <p:cNvPr id="5" name="Picture 4">
            <a:extLst>
              <a:ext uri="{FF2B5EF4-FFF2-40B4-BE49-F238E27FC236}">
                <a16:creationId xmlns:a16="http://schemas.microsoft.com/office/drawing/2014/main" id="{ABC70B10-DB43-BE34-2DF7-370FFECE487F}"/>
              </a:ext>
            </a:extLst>
          </p:cNvPr>
          <p:cNvPicPr>
            <a:picLocks noChangeAspect="1"/>
          </p:cNvPicPr>
          <p:nvPr/>
        </p:nvPicPr>
        <p:blipFill>
          <a:blip r:embed="rId2"/>
          <a:stretch>
            <a:fillRect/>
          </a:stretch>
        </p:blipFill>
        <p:spPr>
          <a:xfrm>
            <a:off x="5545394" y="0"/>
            <a:ext cx="6646606" cy="5462489"/>
          </a:xfrm>
          <a:prstGeom prst="rect">
            <a:avLst/>
          </a:prstGeom>
        </p:spPr>
      </p:pic>
      <p:pic>
        <p:nvPicPr>
          <p:cNvPr id="9" name="Picture 8">
            <a:extLst>
              <a:ext uri="{FF2B5EF4-FFF2-40B4-BE49-F238E27FC236}">
                <a16:creationId xmlns:a16="http://schemas.microsoft.com/office/drawing/2014/main" id="{198D27DE-FE70-C157-B396-A2B797906A0E}"/>
              </a:ext>
            </a:extLst>
          </p:cNvPr>
          <p:cNvPicPr>
            <a:picLocks noChangeAspect="1"/>
          </p:cNvPicPr>
          <p:nvPr/>
        </p:nvPicPr>
        <p:blipFill>
          <a:blip r:embed="rId3"/>
          <a:stretch>
            <a:fillRect/>
          </a:stretch>
        </p:blipFill>
        <p:spPr>
          <a:xfrm>
            <a:off x="0" y="-1"/>
            <a:ext cx="5545394" cy="5462489"/>
          </a:xfrm>
          <a:prstGeom prst="rect">
            <a:avLst/>
          </a:prstGeom>
        </p:spPr>
      </p:pic>
    </p:spTree>
    <p:extLst>
      <p:ext uri="{BB962C8B-B14F-4D97-AF65-F5344CB8AC3E}">
        <p14:creationId xmlns:p14="http://schemas.microsoft.com/office/powerpoint/2010/main" val="4131676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12000">
              <a:srgbClr val="99FFCC"/>
            </a:gs>
            <a:gs pos="58000">
              <a:srgbClr val="FFCCCC"/>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D4CD41-11DC-C699-349E-7BA247A18737}"/>
              </a:ext>
            </a:extLst>
          </p:cNvPr>
          <p:cNvSpPr>
            <a:spLocks noGrp="1"/>
          </p:cNvSpPr>
          <p:nvPr>
            <p:ph idx="1"/>
          </p:nvPr>
        </p:nvSpPr>
        <p:spPr>
          <a:xfrm>
            <a:off x="1097280" y="2108201"/>
            <a:ext cx="10170488" cy="3760891"/>
          </a:xfrm>
          <a:solidFill>
            <a:schemeClr val="tx2">
              <a:lumMod val="90000"/>
              <a:lumOff val="10000"/>
              <a:alpha val="50000"/>
            </a:schemeClr>
          </a:solidFill>
          <a:ln>
            <a:noFill/>
          </a:ln>
        </p:spPr>
        <p:style>
          <a:lnRef idx="0">
            <a:scrgbClr r="0" g="0" b="0"/>
          </a:lnRef>
          <a:fillRef idx="0">
            <a:scrgbClr r="0" g="0" b="0"/>
          </a:fillRef>
          <a:effectRef idx="0">
            <a:scrgbClr r="0" g="0" b="0"/>
          </a:effectRef>
          <a:fontRef idx="minor">
            <a:schemeClr val="lt1"/>
          </a:fontRef>
        </p:style>
        <p:txBody>
          <a:bodyPr/>
          <a:lstStyle/>
          <a:p>
            <a:pPr>
              <a:buFont typeface="Courier New" panose="02070309020205020404" pitchFamily="49" charset="0"/>
              <a:buChar char="o"/>
            </a:pPr>
            <a:r>
              <a:rPr lang="en-IN"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rPr>
              <a:t> EXPERIMENTS ARE CONDUCTED IN ORDER TO EVALUATE </a:t>
            </a:r>
            <a:r>
              <a:rPr lang="en-US"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rPr>
              <a:t>THE PERFORMANCE OF THE PROPOSED SYSTEM</a:t>
            </a:r>
          </a:p>
          <a:p>
            <a:pPr>
              <a:buFont typeface="Courier New" panose="02070309020205020404" pitchFamily="49" charset="0"/>
              <a:buChar char="o"/>
            </a:pPr>
            <a:r>
              <a:rPr lang="en-US"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rPr>
              <a:t>For the given symptoms using seven types of supervised machine learning algo, the systems predicts any kind of disease</a:t>
            </a:r>
          </a:p>
          <a:p>
            <a:pPr>
              <a:buFont typeface="Courier New" panose="02070309020205020404" pitchFamily="49" charset="0"/>
              <a:buChar char="o"/>
            </a:pPr>
            <a:r>
              <a:rPr lang="en-US"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rPr>
              <a:t>Then the predicted disease list forward to the doctor</a:t>
            </a:r>
          </a:p>
          <a:p>
            <a:pPr>
              <a:buFont typeface="Courier New" panose="02070309020205020404" pitchFamily="49" charset="0"/>
              <a:buChar char="o"/>
            </a:pPr>
            <a:r>
              <a:rPr lang="en-US"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rPr>
              <a:t>At last doctor choose the correct disease from forwarded list and suggest the required treatment</a:t>
            </a:r>
            <a:endParaRPr lang="en-IN" dirty="0">
              <a:solidFill>
                <a:srgbClr val="003300"/>
              </a:solidFill>
              <a:latin typeface="Cascadia Mono" panose="020B0609020000020004" pitchFamily="49" charset="0"/>
              <a:ea typeface="Cascadia Mono" panose="020B0609020000020004" pitchFamily="49" charset="0"/>
              <a:cs typeface="Cascadia Mono" panose="020B0609020000020004" pitchFamily="49" charset="0"/>
            </a:endParaRPr>
          </a:p>
        </p:txBody>
      </p:sp>
      <p:sp>
        <p:nvSpPr>
          <p:cNvPr id="2" name="Rectangle 1">
            <a:extLst>
              <a:ext uri="{FF2B5EF4-FFF2-40B4-BE49-F238E27FC236}">
                <a16:creationId xmlns:a16="http://schemas.microsoft.com/office/drawing/2014/main" id="{155BB826-E774-C597-6FFD-A45FE308F869}"/>
              </a:ext>
            </a:extLst>
          </p:cNvPr>
          <p:cNvSpPr/>
          <p:nvPr/>
        </p:nvSpPr>
        <p:spPr>
          <a:xfrm>
            <a:off x="3078553" y="617426"/>
            <a:ext cx="5700600" cy="1015663"/>
          </a:xfrm>
          <a:prstGeom prst="rect">
            <a:avLst/>
          </a:prstGeom>
          <a:solidFill>
            <a:srgbClr val="FFCC00"/>
          </a:solidFill>
        </p:spPr>
        <p:style>
          <a:lnRef idx="1">
            <a:schemeClr val="dk1"/>
          </a:lnRef>
          <a:fillRef idx="2">
            <a:schemeClr val="dk1"/>
          </a:fillRef>
          <a:effectRef idx="1">
            <a:schemeClr val="dk1"/>
          </a:effectRef>
          <a:fontRef idx="minor">
            <a:schemeClr val="dk1"/>
          </a:fontRef>
        </p:style>
        <p:txBody>
          <a:bodyPr wrap="none" lIns="91440" tIns="45720" rIns="91440" bIns="45720">
            <a:spAutoFit/>
          </a:bodyPr>
          <a:lstStyle/>
          <a:p>
            <a:pPr algn="ctr"/>
            <a:r>
              <a:rPr lang="en-US" sz="60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Cooper Black" panose="0208090404030B020404" pitchFamily="18" charset="0"/>
                <a:ea typeface="Cascadia Code SemiBold" panose="020B0609020000020004" pitchFamily="49" charset="0"/>
                <a:cs typeface="Cascadia Code SemiBold" panose="020B0609020000020004" pitchFamily="49" charset="0"/>
              </a:rPr>
              <a:t>CONCLUSION</a:t>
            </a:r>
          </a:p>
        </p:txBody>
      </p:sp>
    </p:spTree>
    <p:extLst>
      <p:ext uri="{BB962C8B-B14F-4D97-AF65-F5344CB8AC3E}">
        <p14:creationId xmlns:p14="http://schemas.microsoft.com/office/powerpoint/2010/main" val="2911295512"/>
      </p:ext>
    </p:extLst>
  </p:cSld>
  <p:clrMapOvr>
    <a:masterClrMapping/>
  </p:clrMapOvr>
</p:sld>
</file>

<file path=ppt/theme/theme1.xml><?xml version="1.0" encoding="utf-8"?>
<a:theme xmlns:a="http://schemas.openxmlformats.org/drawingml/2006/main" name="Custom">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F5B7AB07-F859-4656-A1C1-DAFCFA0ACA4B}" vid="{A6E2497D-935A-4CFD-B9FD-6DCB15FA68BF}"/>
    </a:ext>
  </a:extLst>
</a:theme>
</file>

<file path=ppt/theme/themeOverride1.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ppt/theme/themeOverride2.xml><?xml version="1.0" encoding="utf-8"?>
<a:themeOverride xmlns:a="http://schemas.openxmlformats.org/drawingml/2006/main">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_ip_UnifiedCompliancePolicyUIAction xmlns="http://schemas.microsoft.com/sharepoint/v3" xsi:nil="true"/>
    <Image xmlns="71af3243-3dd4-4a8d-8c0d-dd76da1f02a5">
      <Url xsi:nil="true"/>
      <Description xsi:nil="true"/>
    </Image>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documentManagement>
</p:properties>
</file>

<file path=customXml/itemProps1.xml><?xml version="1.0" encoding="utf-8"?>
<ds:datastoreItem xmlns:ds="http://schemas.openxmlformats.org/officeDocument/2006/customXml" ds:itemID="{AA3F7EDC-E5B4-4BBC-9D2A-CBE6D46C37AD}">
  <ds:schemaRefs>
    <ds:schemaRef ds:uri="http://schemas.microsoft.com/sharepoint/v3/contenttype/forms"/>
  </ds:schemaRefs>
</ds:datastoreItem>
</file>

<file path=customXml/itemProps2.xml><?xml version="1.0" encoding="utf-8"?>
<ds:datastoreItem xmlns:ds="http://schemas.openxmlformats.org/officeDocument/2006/customXml" ds:itemID="{D2957789-34B8-480C-AF9B-3EB54B9E5C9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TM03457510[[fn=Savon]]</Template>
  <TotalTime>597</TotalTime>
  <Words>2217</Words>
  <Application>Microsoft Office PowerPoint</Application>
  <PresentationFormat>Widescreen</PresentationFormat>
  <Paragraphs>176</Paragraphs>
  <Slides>22</Slides>
  <Notes>0</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22</vt:i4>
      </vt:variant>
    </vt:vector>
  </HeadingPairs>
  <TitlesOfParts>
    <vt:vector size="38" baseType="lpstr">
      <vt:lpstr>Agency FB</vt:lpstr>
      <vt:lpstr>Algerian</vt:lpstr>
      <vt:lpstr>Arial Black</vt:lpstr>
      <vt:lpstr>Arial Rounded MT Bold</vt:lpstr>
      <vt:lpstr>Bahnschrift</vt:lpstr>
      <vt:lpstr>Bahnschrift Condensed</vt:lpstr>
      <vt:lpstr>Bahnschrift SemiBold SemiConden</vt:lpstr>
      <vt:lpstr>Bookman Old Style</vt:lpstr>
      <vt:lpstr>Calibri</vt:lpstr>
      <vt:lpstr>Cascadia Mono</vt:lpstr>
      <vt:lpstr>Cooper Black</vt:lpstr>
      <vt:lpstr>Courier New</vt:lpstr>
      <vt:lpstr>Franklin Gothic Book</vt:lpstr>
      <vt:lpstr>Roboto</vt:lpstr>
      <vt:lpstr>Wingdings</vt:lpstr>
      <vt:lpstr>Custom</vt:lpstr>
      <vt:lpstr>Multiple Disease Prediction</vt:lpstr>
      <vt:lpstr>PowerPoint Presentation</vt:lpstr>
      <vt:lpstr>PROBLEM STATEMENT:</vt:lpstr>
      <vt:lpstr>SOLUTION</vt:lpstr>
      <vt:lpstr>PowerPoint Presentation</vt:lpstr>
      <vt:lpstr>methodology</vt:lpstr>
      <vt:lpstr>PowerPoint Presentation</vt:lpstr>
      <vt:lpstr>PowerPoint Presentation</vt:lpstr>
      <vt:lpstr>RANDOM FOREST</vt:lpstr>
      <vt:lpstr>LOGISTIC REGRESSION</vt:lpstr>
      <vt:lpstr>NAÏVE BAYES</vt:lpstr>
      <vt:lpstr>KNN</vt:lpstr>
      <vt:lpstr>DECISION TREE</vt:lpstr>
      <vt:lpstr>SVM</vt:lpstr>
      <vt:lpstr>Dataset</vt:lpstr>
      <vt:lpstr>NUMPY: Numpy is the primary way to handle matrices and vectors in python. Numpy can be used to model a whole dataset using vectors/matrices.</vt:lpstr>
      <vt:lpstr>READ AND FED</vt:lpstr>
      <vt:lpstr>PowerPoint Presentation</vt:lpstr>
      <vt:lpstr>SCATTER PLOT AND BAR PLOT</vt:lpstr>
      <vt:lpstr>Metrices Check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Arpan Chatterjee</dc:creator>
  <cp:lastModifiedBy>Arpan Chatterjee</cp:lastModifiedBy>
  <cp:revision>18</cp:revision>
  <dcterms:created xsi:type="dcterms:W3CDTF">2024-09-03T15:46:51Z</dcterms:created>
  <dcterms:modified xsi:type="dcterms:W3CDTF">2024-11-19T08:55:27Z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